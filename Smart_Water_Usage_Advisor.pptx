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4760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alpha val="45000"/>
            </a:srgbClr>
          </a:solidFill>
          <a:ln/>
        </p:spPr>
      </p:sp>
      <p:sp>
        <p:nvSpPr>
          <p:cNvPr id="3" name="Shape 1"/>
          <p:cNvSpPr/>
          <p:nvPr/>
        </p:nvSpPr>
        <p:spPr>
          <a:xfrm>
            <a:off x="-1645920" y="4754880"/>
            <a:ext cx="3657600" cy="3657600"/>
          </a:xfrm>
          <a:prstGeom prst="ellipse">
            <a:avLst/>
          </a:prstGeom>
          <a:solidFill>
            <a:srgbClr val="1C7293">
              <a:alpha val="40000"/>
            </a:srgbClr>
          </a:solidFill>
          <a:ln/>
        </p:spPr>
      </p:sp>
      <p:sp>
        <p:nvSpPr>
          <p:cNvPr id="4" name="Shape 2"/>
          <p:cNvSpPr/>
          <p:nvPr/>
        </p:nvSpPr>
        <p:spPr>
          <a:xfrm>
            <a:off x="822960" y="822960"/>
            <a:ext cx="914400" cy="914400"/>
          </a:xfrm>
          <a:prstGeom prst="ellipse">
            <a:avLst/>
          </a:prstGeom>
          <a:solidFill>
            <a:srgbClr val="065A82"/>
          </a:solidFill>
          <a:ln/>
        </p:spPr>
      </p:sp>
      <p:pic>
        <p:nvPicPr>
          <p:cNvPr id="5" name="Image 0" descr="preencoded.png"/>
          <p:cNvPicPr>
            <a:picLocks noChangeAspect="1"/>
          </p:cNvPicPr>
          <p:nvPr/>
        </p:nvPicPr>
        <p:blipFill>
          <a:blip r:embed="rId3"/>
          <a:stretch>
            <a:fillRect/>
          </a:stretch>
        </p:blipFill>
        <p:spPr>
          <a:xfrm>
            <a:off x="1060704" y="1060704"/>
            <a:ext cx="438912" cy="438912"/>
          </a:xfrm>
          <a:prstGeom prst="rect">
            <a:avLst/>
          </a:prstGeom>
        </p:spPr>
      </p:pic>
      <p:sp>
        <p:nvSpPr>
          <p:cNvPr id="6" name="Text 3"/>
          <p:cNvSpPr txBox="1"/>
          <p:nvPr/>
        </p:nvSpPr>
        <p:spPr>
          <a:xfrm>
            <a:off x="822960" y="2377440"/>
            <a:ext cx="1042416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SMART WATER USAGE ADVISOR</a:t>
            </a:r>
            <a:endParaRPr lang="en-US" sz="4000" dirty="0"/>
          </a:p>
        </p:txBody>
      </p:sp>
      <p:sp>
        <p:nvSpPr>
          <p:cNvPr id="7" name="Text 4"/>
          <p:cNvSpPr txBox="1"/>
          <p:nvPr/>
        </p:nvSpPr>
        <p:spPr>
          <a:xfrm>
            <a:off x="822960" y="3337560"/>
            <a:ext cx="9144000" cy="64008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An AI-powered assistant for early leak detection and personalized water-saving guidance in urban households</a:t>
            </a:r>
            <a:endParaRPr lang="en-US" sz="1600" dirty="0"/>
          </a:p>
        </p:txBody>
      </p:sp>
      <p:sp>
        <p:nvSpPr>
          <p:cNvPr id="8" name="Shape 5"/>
          <p:cNvSpPr/>
          <p:nvPr/>
        </p:nvSpPr>
        <p:spPr>
          <a:xfrm>
            <a:off x="822960" y="4160520"/>
            <a:ext cx="2926080" cy="0"/>
          </a:xfrm>
          <a:prstGeom prst="line">
            <a:avLst/>
          </a:prstGeom>
          <a:noFill/>
          <a:ln w="19050">
            <a:solidFill>
              <a:srgbClr val="3E7CA6"/>
            </a:solidFill>
            <a:prstDash val="solid"/>
          </a:ln>
        </p:spPr>
      </p:sp>
      <p:sp>
        <p:nvSpPr>
          <p:cNvPr id="9" name="Text 6"/>
          <p:cNvSpPr txBox="1"/>
          <p:nvPr/>
        </p:nvSpPr>
        <p:spPr>
          <a:xfrm>
            <a:off x="822960" y="4343400"/>
            <a:ext cx="7315200" cy="365760"/>
          </a:xfrm>
          <a:prstGeom prst="rect">
            <a:avLst/>
          </a:prstGeom>
          <a:noFill/>
          <a:ln/>
        </p:spPr>
        <p:txBody>
          <a:bodyPr wrap="square" rtlCol="0" anchor="ctr"/>
          <a:lstStyle/>
          <a:p>
            <a:pPr marL="0" indent="0">
              <a:buNone/>
            </a:pPr>
            <a:r>
              <a:rPr lang="en-US" sz="1300" dirty="0">
                <a:solidFill>
                  <a:srgbClr val="9FD3E8"/>
                </a:solidFill>
                <a:latin typeface="Calibri" pitchFamily="34" charset="0"/>
                <a:ea typeface="Calibri" pitchFamily="34" charset="-122"/>
                <a:cs typeface="Calibri" pitchFamily="34" charset="-120"/>
              </a:rPr>
              <a:t>SDG 6 — Clean Water &amp; Sanitation   |   Secondary: SDG 12</a:t>
            </a:r>
            <a:endParaRPr lang="en-US" sz="1300" dirty="0"/>
          </a:p>
        </p:txBody>
      </p:sp>
      <p:sp>
        <p:nvSpPr>
          <p:cNvPr id="10" name="Text 7"/>
          <p:cNvSpPr txBox="1"/>
          <p:nvPr/>
        </p:nvSpPr>
        <p:spPr>
          <a:xfrm>
            <a:off x="822960" y="5760720"/>
            <a:ext cx="548640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Nevil Usdad</a:t>
            </a:r>
            <a:endParaRPr lang="en-US" sz="1800" dirty="0"/>
          </a:p>
        </p:txBody>
      </p:sp>
      <p:sp>
        <p:nvSpPr>
          <p:cNvPr id="11" name="Text 8"/>
          <p:cNvSpPr txBox="1"/>
          <p:nvPr/>
        </p:nvSpPr>
        <p:spPr>
          <a:xfrm>
            <a:off x="822960" y="6144768"/>
            <a:ext cx="5486400" cy="320040"/>
          </a:xfrm>
          <a:prstGeom prst="rect">
            <a:avLst/>
          </a:prstGeom>
          <a:noFill/>
          <a:ln/>
        </p:spPr>
        <p:txBody>
          <a:bodyPr wrap="square" rtlCol="0" anchor="ctr"/>
          <a:lstStyle/>
          <a:p>
            <a:r>
              <a:rPr lang="en-US" sz="1300" b="1" dirty="0" err="1">
                <a:solidFill>
                  <a:srgbClr val="FFFFFF"/>
                </a:solidFill>
                <a:latin typeface="Calibri" pitchFamily="34" charset="0"/>
                <a:ea typeface="Calibri" pitchFamily="34" charset="-122"/>
                <a:cs typeface="Calibri" pitchFamily="34" charset="-120"/>
              </a:rPr>
              <a:t>Sutex</a:t>
            </a:r>
            <a:r>
              <a:rPr lang="en-US" sz="1300" b="1" dirty="0">
                <a:solidFill>
                  <a:srgbClr val="FFFFFF"/>
                </a:solidFill>
                <a:latin typeface="Calibri" pitchFamily="34" charset="0"/>
                <a:ea typeface="Calibri" pitchFamily="34" charset="-122"/>
                <a:cs typeface="Calibri" pitchFamily="34" charset="-120"/>
              </a:rPr>
              <a:t> Bank College Of Computer Applications &amp; Science</a:t>
            </a:r>
            <a:endParaRPr lang="en-US" sz="1300" dirty="0"/>
          </a:p>
        </p:txBody>
      </p:sp>
      <p:sp>
        <p:nvSpPr>
          <p:cNvPr id="12" name="Text 9"/>
          <p:cNvSpPr txBox="1"/>
          <p:nvPr/>
        </p:nvSpPr>
        <p:spPr>
          <a:xfrm>
            <a:off x="822960" y="6492240"/>
            <a:ext cx="7315200" cy="274320"/>
          </a:xfrm>
          <a:prstGeom prst="rect">
            <a:avLst/>
          </a:prstGeom>
          <a:noFill/>
          <a:ln/>
        </p:spPr>
        <p:txBody>
          <a:bodyPr wrap="square" rtlCol="0" anchor="ctr"/>
          <a:lstStyle/>
          <a:p>
            <a:pPr marL="0" indent="0">
              <a:buNone/>
            </a:pPr>
            <a:r>
              <a:rPr lang="en-US" sz="1000" dirty="0">
                <a:solidFill>
                  <a:srgbClr val="8FA9BC"/>
                </a:solidFill>
                <a:latin typeface="Calibri" pitchFamily="34" charset="0"/>
                <a:ea typeface="Calibri" pitchFamily="34" charset="-122"/>
                <a:cs typeface="Calibri" pitchFamily="34" charset="-120"/>
              </a:rPr>
              <a:t>1M1B AI for Sustainability Virtual Internship | IBM SkillsBuild &amp; AICTE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548640" y="1188720"/>
            <a:ext cx="11064240" cy="1463040"/>
          </a:xfrm>
          <a:prstGeom prst="roundRect">
            <a:avLst>
              <a:gd name="adj" fmla="val 7500"/>
            </a:avLst>
          </a:prstGeom>
          <a:solidFill>
            <a:srgbClr val="065A82"/>
          </a:solidFill>
          <a:ln/>
        </p:spPr>
      </p:sp>
      <p:sp>
        <p:nvSpPr>
          <p:cNvPr id="4" name="Text 2"/>
          <p:cNvSpPr txBox="1"/>
          <p:nvPr/>
        </p:nvSpPr>
        <p:spPr>
          <a:xfrm>
            <a:off x="868680" y="1325880"/>
            <a:ext cx="10424160" cy="1188720"/>
          </a:xfrm>
          <a:prstGeom prst="rect">
            <a:avLst/>
          </a:prstGeom>
          <a:noFill/>
          <a:ln/>
        </p:spPr>
        <p:txBody>
          <a:bodyPr wrap="square"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“How might we use AI to help urban households detect potential water leaks early and reduce wasteful daily habits through personalized guidance, so that domestic water consumption can become more sustainable?”</a:t>
            </a:r>
            <a:endParaRPr lang="en-US" sz="1600" dirty="0"/>
          </a:p>
        </p:txBody>
      </p:sp>
      <p:sp>
        <p:nvSpPr>
          <p:cNvPr id="5" name="Shape 3"/>
          <p:cNvSpPr/>
          <p:nvPr/>
        </p:nvSpPr>
        <p:spPr>
          <a:xfrm>
            <a:off x="548640" y="3063240"/>
            <a:ext cx="3538728" cy="3063240"/>
          </a:xfrm>
          <a:prstGeom prst="roundRect">
            <a:avLst>
              <a:gd name="adj" fmla="val 2985"/>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6" name="Shape 4"/>
          <p:cNvSpPr/>
          <p:nvPr/>
        </p:nvSpPr>
        <p:spPr>
          <a:xfrm>
            <a:off x="822960" y="3337560"/>
            <a:ext cx="640080" cy="640080"/>
          </a:xfrm>
          <a:prstGeom prst="ellipse">
            <a:avLst/>
          </a:prstGeom>
          <a:solidFill>
            <a:srgbClr val="1C7293"/>
          </a:solidFill>
          <a:ln/>
        </p:spPr>
      </p:sp>
      <p:pic>
        <p:nvPicPr>
          <p:cNvPr id="7" name="Image 0" descr="preencoded.png"/>
          <p:cNvPicPr>
            <a:picLocks noChangeAspect="1"/>
          </p:cNvPicPr>
          <p:nvPr/>
        </p:nvPicPr>
        <p:blipFill>
          <a:blip r:embed="rId3"/>
          <a:stretch>
            <a:fillRect/>
          </a:stretch>
        </p:blipFill>
        <p:spPr>
          <a:xfrm>
            <a:off x="989381" y="3503981"/>
            <a:ext cx="307238" cy="307238"/>
          </a:xfrm>
          <a:prstGeom prst="rect">
            <a:avLst/>
          </a:prstGeom>
        </p:spPr>
      </p:pic>
      <p:sp>
        <p:nvSpPr>
          <p:cNvPr id="8" name="Text 5"/>
          <p:cNvSpPr txBox="1"/>
          <p:nvPr/>
        </p:nvSpPr>
        <p:spPr>
          <a:xfrm>
            <a:off x="822960" y="4114800"/>
            <a:ext cx="2990088"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Who Faces It</a:t>
            </a:r>
            <a:endParaRPr lang="en-US" sz="1600" dirty="0"/>
          </a:p>
        </p:txBody>
      </p:sp>
      <p:sp>
        <p:nvSpPr>
          <p:cNvPr id="9" name="Text 6"/>
          <p:cNvSpPr txBox="1"/>
          <p:nvPr/>
        </p:nvSpPr>
        <p:spPr>
          <a:xfrm>
            <a:off x="822960" y="4526280"/>
            <a:ext cx="2990088" cy="14630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Urban household members — renters, homeowners, and apartment residents managing their own daily water use.</a:t>
            </a:r>
            <a:endParaRPr lang="en-US" sz="1250" dirty="0"/>
          </a:p>
        </p:txBody>
      </p:sp>
      <p:sp>
        <p:nvSpPr>
          <p:cNvPr id="10" name="Shape 7"/>
          <p:cNvSpPr/>
          <p:nvPr/>
        </p:nvSpPr>
        <p:spPr>
          <a:xfrm>
            <a:off x="4306824" y="3063240"/>
            <a:ext cx="3538728" cy="3063240"/>
          </a:xfrm>
          <a:prstGeom prst="roundRect">
            <a:avLst>
              <a:gd name="adj" fmla="val 2985"/>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11" name="Shape 8"/>
          <p:cNvSpPr/>
          <p:nvPr/>
        </p:nvSpPr>
        <p:spPr>
          <a:xfrm>
            <a:off x="4581144" y="3337560"/>
            <a:ext cx="640080" cy="640080"/>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4747565" y="3503981"/>
            <a:ext cx="307238" cy="307238"/>
          </a:xfrm>
          <a:prstGeom prst="rect">
            <a:avLst/>
          </a:prstGeom>
        </p:spPr>
      </p:pic>
      <p:sp>
        <p:nvSpPr>
          <p:cNvPr id="13" name="Text 9"/>
          <p:cNvSpPr txBox="1"/>
          <p:nvPr/>
        </p:nvSpPr>
        <p:spPr>
          <a:xfrm>
            <a:off x="4581144" y="4114800"/>
            <a:ext cx="2990088"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The Gap</a:t>
            </a:r>
            <a:endParaRPr lang="en-US" sz="1600" dirty="0"/>
          </a:p>
        </p:txBody>
      </p:sp>
      <p:sp>
        <p:nvSpPr>
          <p:cNvPr id="14" name="Text 10"/>
          <p:cNvSpPr txBox="1"/>
          <p:nvPr/>
        </p:nvSpPr>
        <p:spPr>
          <a:xfrm>
            <a:off x="4581144" y="4526280"/>
            <a:ext cx="2990088" cy="14630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Leaks go unnoticed until a bill spike; wasteful habits (long showers, running taps, over-watering) are never flagged in real time.</a:t>
            </a:r>
            <a:endParaRPr lang="en-US" sz="1250" dirty="0"/>
          </a:p>
        </p:txBody>
      </p:sp>
      <p:sp>
        <p:nvSpPr>
          <p:cNvPr id="15" name="Shape 11"/>
          <p:cNvSpPr/>
          <p:nvPr/>
        </p:nvSpPr>
        <p:spPr>
          <a:xfrm>
            <a:off x="8065008" y="3063240"/>
            <a:ext cx="3538728" cy="3063240"/>
          </a:xfrm>
          <a:prstGeom prst="roundRect">
            <a:avLst>
              <a:gd name="adj" fmla="val 2985"/>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16" name="Shape 12"/>
          <p:cNvSpPr/>
          <p:nvPr/>
        </p:nvSpPr>
        <p:spPr>
          <a:xfrm>
            <a:off x="8339328" y="3337560"/>
            <a:ext cx="640080" cy="640080"/>
          </a:xfrm>
          <a:prstGeom prst="ellipse">
            <a:avLst/>
          </a:prstGeom>
          <a:solidFill>
            <a:srgbClr val="1C7293"/>
          </a:solidFill>
          <a:ln/>
        </p:spPr>
      </p:sp>
      <p:pic>
        <p:nvPicPr>
          <p:cNvPr id="17" name="Image 2" descr="preencoded.png"/>
          <p:cNvPicPr>
            <a:picLocks noChangeAspect="1"/>
          </p:cNvPicPr>
          <p:nvPr/>
        </p:nvPicPr>
        <p:blipFill>
          <a:blip r:embed="rId5"/>
          <a:stretch>
            <a:fillRect/>
          </a:stretch>
        </p:blipFill>
        <p:spPr>
          <a:xfrm>
            <a:off x="8505749" y="3503981"/>
            <a:ext cx="307238" cy="307238"/>
          </a:xfrm>
          <a:prstGeom prst="rect">
            <a:avLst/>
          </a:prstGeom>
        </p:spPr>
      </p:pic>
      <p:sp>
        <p:nvSpPr>
          <p:cNvPr id="18" name="Text 13"/>
          <p:cNvSpPr txBox="1"/>
          <p:nvPr/>
        </p:nvSpPr>
        <p:spPr>
          <a:xfrm>
            <a:off x="8339328" y="4114800"/>
            <a:ext cx="2990088"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Why It Persists</a:t>
            </a:r>
            <a:endParaRPr lang="en-US" sz="1600" dirty="0"/>
          </a:p>
        </p:txBody>
      </p:sp>
      <p:sp>
        <p:nvSpPr>
          <p:cNvPr id="19" name="Text 14"/>
          <p:cNvSpPr txBox="1"/>
          <p:nvPr/>
        </p:nvSpPr>
        <p:spPr>
          <a:xfrm>
            <a:off x="8339328" y="4526280"/>
            <a:ext cx="2990088" cy="14630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No accessible, low-cost tool exists that combines leak self-diagnosis with personalized, adaptive habit feedback.</a:t>
            </a:r>
            <a:endParaRPr lang="en-US" sz="1250" dirty="0"/>
          </a:p>
        </p:txBody>
      </p:sp>
      <p:sp>
        <p:nvSpPr>
          <p:cNvPr id="20" name="Text 15"/>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1"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SDG Alignment</a:t>
            </a:r>
            <a:endParaRPr lang="en-US" sz="3000" dirty="0"/>
          </a:p>
        </p:txBody>
      </p:sp>
      <p:sp>
        <p:nvSpPr>
          <p:cNvPr id="3" name="Shape 1"/>
          <p:cNvSpPr/>
          <p:nvPr/>
        </p:nvSpPr>
        <p:spPr>
          <a:xfrm>
            <a:off x="548640" y="1371600"/>
            <a:ext cx="5394960" cy="4480560"/>
          </a:xfrm>
          <a:prstGeom prst="roundRect">
            <a:avLst>
              <a:gd name="adj" fmla="val 2449"/>
            </a:avLst>
          </a:prstGeom>
          <a:solidFill>
            <a:srgbClr val="065A82"/>
          </a:solidFill>
          <a:ln/>
        </p:spPr>
      </p:sp>
      <p:sp>
        <p:nvSpPr>
          <p:cNvPr id="4" name="Text 2"/>
          <p:cNvSpPr txBox="1"/>
          <p:nvPr/>
        </p:nvSpPr>
        <p:spPr>
          <a:xfrm>
            <a:off x="914400" y="1600200"/>
            <a:ext cx="3657600" cy="320040"/>
          </a:xfrm>
          <a:prstGeom prst="rect">
            <a:avLst/>
          </a:prstGeom>
          <a:noFill/>
          <a:ln/>
        </p:spPr>
        <p:txBody>
          <a:bodyPr wrap="square" rtlCol="0" anchor="ctr"/>
          <a:lstStyle/>
          <a:p>
            <a:pPr marL="0" indent="0">
              <a:buNone/>
            </a:pPr>
            <a:r>
              <a:rPr lang="en-US" sz="1200" b="1" dirty="0">
                <a:solidFill>
                  <a:srgbClr val="9FD3E8"/>
                </a:solidFill>
                <a:latin typeface="Calibri" pitchFamily="34" charset="0"/>
                <a:ea typeface="Calibri" pitchFamily="34" charset="-122"/>
                <a:cs typeface="Calibri" pitchFamily="34" charset="-120"/>
              </a:rPr>
              <a:t>PRIMARY</a:t>
            </a:r>
            <a:endParaRPr lang="en-US" sz="1200" dirty="0"/>
          </a:p>
        </p:txBody>
      </p:sp>
      <p:sp>
        <p:nvSpPr>
          <p:cNvPr id="5" name="Shape 3"/>
          <p:cNvSpPr/>
          <p:nvPr/>
        </p:nvSpPr>
        <p:spPr>
          <a:xfrm>
            <a:off x="914400" y="1965960"/>
            <a:ext cx="1005840" cy="1005840"/>
          </a:xfrm>
          <a:prstGeom prst="ellipse">
            <a:avLst/>
          </a:prstGeom>
          <a:solidFill>
            <a:srgbClr val="0C4B6E"/>
          </a:solidFill>
          <a:ln/>
        </p:spPr>
      </p:sp>
      <p:pic>
        <p:nvPicPr>
          <p:cNvPr id="6" name="Image 0" descr="preencoded.png"/>
          <p:cNvPicPr>
            <a:picLocks noChangeAspect="1"/>
          </p:cNvPicPr>
          <p:nvPr/>
        </p:nvPicPr>
        <p:blipFill>
          <a:blip r:embed="rId3"/>
          <a:stretch>
            <a:fillRect/>
          </a:stretch>
        </p:blipFill>
        <p:spPr>
          <a:xfrm>
            <a:off x="1175918" y="2227478"/>
            <a:ext cx="482803" cy="482803"/>
          </a:xfrm>
          <a:prstGeom prst="rect">
            <a:avLst/>
          </a:prstGeom>
        </p:spPr>
      </p:pic>
      <p:sp>
        <p:nvSpPr>
          <p:cNvPr id="7" name="Text 4"/>
          <p:cNvSpPr txBox="1"/>
          <p:nvPr/>
        </p:nvSpPr>
        <p:spPr>
          <a:xfrm>
            <a:off x="2103120" y="2011680"/>
            <a:ext cx="27432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SDG 6</a:t>
            </a:r>
            <a:endParaRPr lang="en-US" sz="2600" dirty="0"/>
          </a:p>
        </p:txBody>
      </p:sp>
      <p:sp>
        <p:nvSpPr>
          <p:cNvPr id="8" name="Text 5"/>
          <p:cNvSpPr txBox="1"/>
          <p:nvPr/>
        </p:nvSpPr>
        <p:spPr>
          <a:xfrm>
            <a:off x="2103120" y="2514600"/>
            <a:ext cx="3566160" cy="4572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Clean Water and Sanitation</a:t>
            </a:r>
            <a:endParaRPr lang="en-US" sz="1400" dirty="0"/>
          </a:p>
        </p:txBody>
      </p:sp>
      <p:sp>
        <p:nvSpPr>
          <p:cNvPr id="9" name="Text 6"/>
          <p:cNvSpPr txBox="1"/>
          <p:nvPr/>
        </p:nvSpPr>
        <p:spPr>
          <a:xfrm>
            <a:off x="914400" y="3200400"/>
            <a:ext cx="4663440" cy="1463040"/>
          </a:xfrm>
          <a:prstGeom prst="rect">
            <a:avLst/>
          </a:prstGeom>
          <a:noFill/>
          <a:ln/>
        </p:spPr>
        <p:txBody>
          <a:bodyPr wrap="square" rtlCol="0" anchor="t"/>
          <a:lstStyle/>
          <a:p>
            <a:pPr marL="0" indent="0">
              <a:buNone/>
            </a:pPr>
            <a:r>
              <a:rPr lang="en-US" sz="1300" dirty="0">
                <a:solidFill>
                  <a:srgbClr val="E6F1F7"/>
                </a:solidFill>
                <a:latin typeface="Calibri" pitchFamily="34" charset="0"/>
                <a:ea typeface="Calibri" pitchFamily="34" charset="-122"/>
                <a:cs typeface="Calibri" pitchFamily="34" charset="-120"/>
              </a:rPr>
              <a:t>The advisor directly supports sustainable, efficient domestic water use — catching leaks early and cutting avoidable daily wastage before it accumulates.</a:t>
            </a:r>
            <a:endParaRPr lang="en-US" sz="1300" dirty="0"/>
          </a:p>
        </p:txBody>
      </p:sp>
      <p:sp>
        <p:nvSpPr>
          <p:cNvPr id="10" name="Shape 7"/>
          <p:cNvSpPr/>
          <p:nvPr/>
        </p:nvSpPr>
        <p:spPr>
          <a:xfrm>
            <a:off x="6217920" y="1371600"/>
            <a:ext cx="5394960" cy="4480560"/>
          </a:xfrm>
          <a:prstGeom prst="roundRect">
            <a:avLst>
              <a:gd name="adj" fmla="val 2449"/>
            </a:avLst>
          </a:prstGeom>
          <a:solidFill>
            <a:srgbClr val="FFFFFF"/>
          </a:solidFill>
          <a:ln w="12700">
            <a:solidFill>
              <a:srgbClr val="DCE6EA"/>
            </a:solidFill>
            <a:prstDash val="solid"/>
          </a:ln>
        </p:spPr>
      </p:sp>
      <p:sp>
        <p:nvSpPr>
          <p:cNvPr id="11" name="Text 8"/>
          <p:cNvSpPr txBox="1"/>
          <p:nvPr/>
        </p:nvSpPr>
        <p:spPr>
          <a:xfrm>
            <a:off x="6583680" y="1600200"/>
            <a:ext cx="365760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SECONDARY</a:t>
            </a:r>
            <a:endParaRPr lang="en-US" sz="1200" dirty="0"/>
          </a:p>
        </p:txBody>
      </p:sp>
      <p:sp>
        <p:nvSpPr>
          <p:cNvPr id="12" name="Shape 9"/>
          <p:cNvSpPr/>
          <p:nvPr/>
        </p:nvSpPr>
        <p:spPr>
          <a:xfrm>
            <a:off x="6583680" y="1965960"/>
            <a:ext cx="1005840" cy="1005840"/>
          </a:xfrm>
          <a:prstGeom prst="ellipse">
            <a:avLst/>
          </a:prstGeom>
          <a:solidFill>
            <a:srgbClr val="1C7293"/>
          </a:solidFill>
          <a:ln/>
        </p:spPr>
      </p:sp>
      <p:pic>
        <p:nvPicPr>
          <p:cNvPr id="13" name="Image 1" descr="preencoded.png"/>
          <p:cNvPicPr>
            <a:picLocks noChangeAspect="1"/>
          </p:cNvPicPr>
          <p:nvPr/>
        </p:nvPicPr>
        <p:blipFill>
          <a:blip r:embed="rId4"/>
          <a:stretch>
            <a:fillRect/>
          </a:stretch>
        </p:blipFill>
        <p:spPr>
          <a:xfrm>
            <a:off x="6845198" y="2227478"/>
            <a:ext cx="482803" cy="482803"/>
          </a:xfrm>
          <a:prstGeom prst="rect">
            <a:avLst/>
          </a:prstGeom>
        </p:spPr>
      </p:pic>
      <p:sp>
        <p:nvSpPr>
          <p:cNvPr id="14" name="Text 10"/>
          <p:cNvSpPr txBox="1"/>
          <p:nvPr/>
        </p:nvSpPr>
        <p:spPr>
          <a:xfrm>
            <a:off x="7772400" y="2011680"/>
            <a:ext cx="2743200" cy="50292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SDG 12</a:t>
            </a:r>
            <a:endParaRPr lang="en-US" sz="2600" dirty="0"/>
          </a:p>
        </p:txBody>
      </p:sp>
      <p:sp>
        <p:nvSpPr>
          <p:cNvPr id="15" name="Text 11"/>
          <p:cNvSpPr txBox="1"/>
          <p:nvPr/>
        </p:nvSpPr>
        <p:spPr>
          <a:xfrm>
            <a:off x="7772400" y="2542032"/>
            <a:ext cx="3566160" cy="548640"/>
          </a:xfrm>
          <a:prstGeom prst="rect">
            <a:avLst/>
          </a:prstGeom>
          <a:noFill/>
          <a:ln/>
        </p:spPr>
        <p:txBody>
          <a:bodyPr wrap="square" rtlCol="0" anchor="ctr"/>
          <a:lstStyle/>
          <a:p>
            <a:pPr marL="0" indent="0">
              <a:buNone/>
            </a:pPr>
            <a:r>
              <a:rPr lang="en-US" sz="1300" dirty="0">
                <a:solidFill>
                  <a:srgbClr val="5A6B76"/>
                </a:solidFill>
                <a:latin typeface="Calibri" pitchFamily="34" charset="0"/>
                <a:ea typeface="Calibri" pitchFamily="34" charset="-122"/>
                <a:cs typeface="Calibri" pitchFamily="34" charset="-120"/>
              </a:rPr>
              <a:t>Responsible Consumption &amp; Production</a:t>
            </a:r>
            <a:endParaRPr lang="en-US" sz="1300" dirty="0"/>
          </a:p>
        </p:txBody>
      </p:sp>
      <p:sp>
        <p:nvSpPr>
          <p:cNvPr id="16" name="Text 12"/>
          <p:cNvSpPr txBox="1"/>
          <p:nvPr/>
        </p:nvSpPr>
        <p:spPr>
          <a:xfrm>
            <a:off x="6583680" y="3291840"/>
            <a:ext cx="4663440" cy="1463040"/>
          </a:xfrm>
          <a:prstGeom prst="rect">
            <a:avLst/>
          </a:prstGeom>
          <a:noFill/>
          <a:ln/>
        </p:spPr>
        <p:txBody>
          <a:bodyPr wrap="square" rtlCol="0" anchor="t"/>
          <a:lstStyle/>
          <a:p>
            <a:pPr marL="0" indent="0">
              <a:buNone/>
            </a:pPr>
            <a:r>
              <a:rPr lang="en-US" sz="1300" dirty="0">
                <a:solidFill>
                  <a:srgbClr val="1A2733"/>
                </a:solidFill>
                <a:latin typeface="Calibri" pitchFamily="34" charset="0"/>
                <a:ea typeface="Calibri" pitchFamily="34" charset="-122"/>
                <a:cs typeface="Calibri" pitchFamily="34" charset="-120"/>
              </a:rPr>
              <a:t>By nudging households toward mindful, resource-efficient habits, the project also reinforces responsible consumption of a shared natural resource.</a:t>
            </a:r>
            <a:endParaRPr lang="en-US" sz="1300" dirty="0"/>
          </a:p>
        </p:txBody>
      </p:sp>
      <p:sp>
        <p:nvSpPr>
          <p:cNvPr id="17" name="Text 1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18"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AI Solution Overview</a:t>
            </a:r>
            <a:endParaRPr lang="en-US" sz="3000" dirty="0"/>
          </a:p>
        </p:txBody>
      </p:sp>
      <p:sp>
        <p:nvSpPr>
          <p:cNvPr id="3" name="Text 1"/>
          <p:cNvSpPr txBox="1"/>
          <p:nvPr/>
        </p:nvSpPr>
        <p:spPr>
          <a:xfrm>
            <a:off x="548640" y="960120"/>
            <a:ext cx="10058400" cy="365760"/>
          </a:xfrm>
          <a:prstGeom prst="rect">
            <a:avLst/>
          </a:prstGeom>
          <a:noFill/>
          <a:ln/>
        </p:spPr>
        <p:txBody>
          <a:bodyPr wrap="square" rtlCol="0" anchor="ctr"/>
          <a:lstStyle/>
          <a:p>
            <a:pPr marL="0" indent="0">
              <a:buNone/>
            </a:pPr>
            <a:r>
              <a:rPr lang="en-US" sz="1300" i="1" dirty="0">
                <a:solidFill>
                  <a:srgbClr val="5A6B76"/>
                </a:solidFill>
                <a:latin typeface="Calibri" pitchFamily="34" charset="0"/>
                <a:ea typeface="Calibri" pitchFamily="34" charset="-122"/>
                <a:cs typeface="Calibri" pitchFamily="34" charset="-120"/>
              </a:rPr>
              <a:t>A hybrid design: rule-based logic for diagnosis, generative AI for personalized guidance.</a:t>
            </a:r>
            <a:endParaRPr lang="en-US" sz="1300" dirty="0"/>
          </a:p>
        </p:txBody>
      </p:sp>
      <p:sp>
        <p:nvSpPr>
          <p:cNvPr id="4" name="Shape 2"/>
          <p:cNvSpPr/>
          <p:nvPr/>
        </p:nvSpPr>
        <p:spPr>
          <a:xfrm>
            <a:off x="548640" y="1600200"/>
            <a:ext cx="5394960" cy="4297680"/>
          </a:xfrm>
          <a:prstGeom prst="roundRect">
            <a:avLst>
              <a:gd name="adj" fmla="val 2553"/>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5" name="Shape 3"/>
          <p:cNvSpPr/>
          <p:nvPr/>
        </p:nvSpPr>
        <p:spPr>
          <a:xfrm>
            <a:off x="914400" y="1874520"/>
            <a:ext cx="731520" cy="73152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1104595" y="2064715"/>
            <a:ext cx="351130" cy="351130"/>
          </a:xfrm>
          <a:prstGeom prst="rect">
            <a:avLst/>
          </a:prstGeom>
        </p:spPr>
      </p:pic>
      <p:sp>
        <p:nvSpPr>
          <p:cNvPr id="7" name="Text 4"/>
          <p:cNvSpPr txBox="1"/>
          <p:nvPr/>
        </p:nvSpPr>
        <p:spPr>
          <a:xfrm>
            <a:off x="1828800" y="1965960"/>
            <a:ext cx="3840480" cy="502920"/>
          </a:xfrm>
          <a:prstGeom prst="rect">
            <a:avLst/>
          </a:prstGeom>
          <a:noFill/>
          <a:ln/>
        </p:spPr>
        <p:txBody>
          <a:bodyPr wrap="square"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Module 1: Leak Detection</a:t>
            </a:r>
            <a:endParaRPr lang="en-US" sz="1700" dirty="0"/>
          </a:p>
        </p:txBody>
      </p:sp>
      <p:sp>
        <p:nvSpPr>
          <p:cNvPr id="8" name="Text 5"/>
          <p:cNvSpPr txBox="1"/>
          <p:nvPr/>
        </p:nvSpPr>
        <p:spPr>
          <a:xfrm>
            <a:off x="1828800" y="2423160"/>
            <a:ext cx="3840480" cy="274320"/>
          </a:xfrm>
          <a:prstGeom prst="rect">
            <a:avLst/>
          </a:prstGeom>
          <a:noFill/>
          <a:ln/>
        </p:spPr>
        <p:txBody>
          <a:bodyPr wrap="square" rtlCol="0" anchor="ctr"/>
          <a:lstStyle/>
          <a:p>
            <a:pPr marL="0" indent="0">
              <a:buNone/>
            </a:pPr>
            <a:r>
              <a:rPr lang="en-US" sz="1150" i="1" dirty="0">
                <a:solidFill>
                  <a:srgbClr val="1C7293"/>
                </a:solidFill>
                <a:latin typeface="Calibri" pitchFamily="34" charset="0"/>
                <a:ea typeface="Calibri" pitchFamily="34" charset="-122"/>
                <a:cs typeface="Calibri" pitchFamily="34" charset="-120"/>
              </a:rPr>
              <a:t>Rule-based logic + AI explanation</a:t>
            </a:r>
            <a:endParaRPr lang="en-US" sz="1150" dirty="0"/>
          </a:p>
        </p:txBody>
      </p:sp>
      <p:sp>
        <p:nvSpPr>
          <p:cNvPr id="9" name="Text 6"/>
          <p:cNvSpPr txBox="1"/>
          <p:nvPr/>
        </p:nvSpPr>
        <p:spPr>
          <a:xfrm>
            <a:off x="914400" y="2880360"/>
            <a:ext cx="4709160" cy="2834640"/>
          </a:xfrm>
          <a:prstGeom prst="rect">
            <a:avLst/>
          </a:prstGeom>
          <a:noFill/>
          <a:ln/>
        </p:spPr>
        <p:txBody>
          <a:bodyPr wrap="square" rtlCol="0" anchor="t"/>
          <a:lstStyle/>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4 simple yes/no questions (meter movement, bill spikes, damp patches, cistern behavior)</a:t>
            </a:r>
            <a:endParaRPr lang="en-US" sz="1300" dirty="0"/>
          </a:p>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Rule engine scores answers → No Leak / Possible Minor Leak / Likely Major Leak</a:t>
            </a:r>
            <a:endParaRPr lang="en-US" sz="1300" dirty="0"/>
          </a:p>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AI explains the result in plain language and gives 1-2 concrete next steps</a:t>
            </a:r>
            <a:endParaRPr lang="en-US" sz="1300" dirty="0"/>
          </a:p>
        </p:txBody>
      </p:sp>
      <p:sp>
        <p:nvSpPr>
          <p:cNvPr id="10" name="Shape 7"/>
          <p:cNvSpPr/>
          <p:nvPr/>
        </p:nvSpPr>
        <p:spPr>
          <a:xfrm>
            <a:off x="6217920" y="1600200"/>
            <a:ext cx="5394960" cy="4297680"/>
          </a:xfrm>
          <a:prstGeom prst="roundRect">
            <a:avLst>
              <a:gd name="adj" fmla="val 2553"/>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11" name="Shape 8"/>
          <p:cNvSpPr/>
          <p:nvPr/>
        </p:nvSpPr>
        <p:spPr>
          <a:xfrm>
            <a:off x="6583680" y="1874520"/>
            <a:ext cx="731520" cy="731520"/>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6773875" y="2064715"/>
            <a:ext cx="351130" cy="351130"/>
          </a:xfrm>
          <a:prstGeom prst="rect">
            <a:avLst/>
          </a:prstGeom>
        </p:spPr>
      </p:pic>
      <p:sp>
        <p:nvSpPr>
          <p:cNvPr id="13" name="Text 9"/>
          <p:cNvSpPr txBox="1"/>
          <p:nvPr/>
        </p:nvSpPr>
        <p:spPr>
          <a:xfrm>
            <a:off x="7498080" y="1965960"/>
            <a:ext cx="3840480" cy="502920"/>
          </a:xfrm>
          <a:prstGeom prst="rect">
            <a:avLst/>
          </a:prstGeom>
          <a:noFill/>
          <a:ln/>
        </p:spPr>
        <p:txBody>
          <a:bodyPr wrap="square"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Module 2: Habit Advisory</a:t>
            </a:r>
            <a:endParaRPr lang="en-US" sz="1700" dirty="0"/>
          </a:p>
        </p:txBody>
      </p:sp>
      <p:sp>
        <p:nvSpPr>
          <p:cNvPr id="14" name="Text 10"/>
          <p:cNvSpPr txBox="1"/>
          <p:nvPr/>
        </p:nvSpPr>
        <p:spPr>
          <a:xfrm>
            <a:off x="7498080" y="2423160"/>
            <a:ext cx="3840480" cy="274320"/>
          </a:xfrm>
          <a:prstGeom prst="rect">
            <a:avLst/>
          </a:prstGeom>
          <a:noFill/>
          <a:ln/>
        </p:spPr>
        <p:txBody>
          <a:bodyPr wrap="square" rtlCol="0" anchor="ctr"/>
          <a:lstStyle/>
          <a:p>
            <a:pPr marL="0" indent="0">
              <a:buNone/>
            </a:pPr>
            <a:r>
              <a:rPr lang="en-US" sz="1150" i="1" dirty="0">
                <a:solidFill>
                  <a:srgbClr val="1C7293"/>
                </a:solidFill>
                <a:latin typeface="Calibri" pitchFamily="34" charset="0"/>
                <a:ea typeface="Calibri" pitchFamily="34" charset="-122"/>
                <a:cs typeface="Calibri" pitchFamily="34" charset="-120"/>
              </a:rPr>
              <a:t>Fully AI-generated, personalized</a:t>
            </a:r>
            <a:endParaRPr lang="en-US" sz="1150" dirty="0"/>
          </a:p>
        </p:txBody>
      </p:sp>
      <p:sp>
        <p:nvSpPr>
          <p:cNvPr id="15" name="Text 11"/>
          <p:cNvSpPr txBox="1"/>
          <p:nvPr/>
        </p:nvSpPr>
        <p:spPr>
          <a:xfrm>
            <a:off x="6583680" y="2880360"/>
            <a:ext cx="4709160" cy="2834640"/>
          </a:xfrm>
          <a:prstGeom prst="rect">
            <a:avLst/>
          </a:prstGeom>
          <a:noFill/>
          <a:ln/>
        </p:spPr>
        <p:txBody>
          <a:bodyPr wrap="square" rtlCol="0" anchor="t"/>
          <a:lstStyle/>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User describes daily habits: shower length, dishwashing, gardening, laundry</a:t>
            </a:r>
            <a:endParaRPr lang="en-US" sz="1300" dirty="0"/>
          </a:p>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AI applies known usage benchmarks to estimate monthly consumption — shown transparently</a:t>
            </a:r>
            <a:endParaRPr lang="en-US" sz="1300" dirty="0"/>
          </a:p>
          <a:p>
            <a:pPr marL="342900" indent="-342900">
              <a:spcAft>
                <a:spcPts val="1000"/>
              </a:spcAft>
              <a:buSzPct val="100000"/>
              <a:buChar char="•"/>
            </a:pPr>
            <a:r>
              <a:rPr lang="en-US" sz="1300" dirty="0">
                <a:solidFill>
                  <a:srgbClr val="1A2733"/>
                </a:solidFill>
                <a:latin typeface="Calibri" pitchFamily="34" charset="0"/>
                <a:ea typeface="Calibri" pitchFamily="34" charset="-122"/>
                <a:cs typeface="Calibri" pitchFamily="34" charset="-120"/>
              </a:rPr>
              <a:t>Identifies biggest waste source + gives 2 personalized, practical tips with estimated savings</a:t>
            </a:r>
            <a:endParaRPr lang="en-US" sz="1300" dirty="0"/>
          </a:p>
        </p:txBody>
      </p:sp>
      <p:sp>
        <p:nvSpPr>
          <p:cNvPr id="16"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17"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Target Users &amp; Why AI Is Needed</a:t>
            </a:r>
            <a:endParaRPr lang="en-US" sz="2800" dirty="0"/>
          </a:p>
        </p:txBody>
      </p:sp>
      <p:sp>
        <p:nvSpPr>
          <p:cNvPr id="3" name="Shape 1"/>
          <p:cNvSpPr/>
          <p:nvPr/>
        </p:nvSpPr>
        <p:spPr>
          <a:xfrm>
            <a:off x="548640" y="1234440"/>
            <a:ext cx="11064240" cy="1051560"/>
          </a:xfrm>
          <a:prstGeom prst="roundRect">
            <a:avLst>
              <a:gd name="adj" fmla="val 8696"/>
            </a:avLst>
          </a:prstGeom>
          <a:solidFill>
            <a:srgbClr val="E7F2F7"/>
          </a:solidFill>
          <a:ln/>
        </p:spPr>
      </p:sp>
      <p:sp>
        <p:nvSpPr>
          <p:cNvPr id="4" name="Text 2"/>
          <p:cNvSpPr txBox="1"/>
          <p:nvPr/>
        </p:nvSpPr>
        <p:spPr>
          <a:xfrm>
            <a:off x="868680" y="1234440"/>
            <a:ext cx="10424160" cy="10515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Target Users:  </a:t>
            </a:r>
            <a:r>
              <a:rPr lang="en-US" sz="1400" dirty="0">
                <a:solidFill>
                  <a:srgbClr val="1A2733"/>
                </a:solidFill>
                <a:latin typeface="Calibri" pitchFamily="34" charset="0"/>
                <a:ea typeface="Calibri" pitchFamily="34" charset="-122"/>
                <a:cs typeface="Calibri" pitchFamily="34" charset="-120"/>
              </a:rPr>
              <a:t>Urban household members — particularly in water-stressed cities — including renters, homeowners, and apartment/hostel residents who manage their own water usage.</a:t>
            </a:r>
            <a:endParaRPr lang="en-US" sz="1400" dirty="0"/>
          </a:p>
        </p:txBody>
      </p:sp>
      <p:sp>
        <p:nvSpPr>
          <p:cNvPr id="5" name="Text 3"/>
          <p:cNvSpPr txBox="1"/>
          <p:nvPr/>
        </p:nvSpPr>
        <p:spPr>
          <a:xfrm>
            <a:off x="548640" y="2514600"/>
            <a:ext cx="731520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Why AI — Not a Static Form or Leaflet</a:t>
            </a:r>
            <a:endParaRPr lang="en-US" sz="1800" dirty="0"/>
          </a:p>
        </p:txBody>
      </p:sp>
      <p:sp>
        <p:nvSpPr>
          <p:cNvPr id="6" name="Shape 4"/>
          <p:cNvSpPr/>
          <p:nvPr/>
        </p:nvSpPr>
        <p:spPr>
          <a:xfrm>
            <a:off x="548640" y="3063240"/>
            <a:ext cx="502920" cy="502920"/>
          </a:xfrm>
          <a:prstGeom prst="ellipse">
            <a:avLst/>
          </a:prstGeom>
          <a:solidFill>
            <a:srgbClr val="065A82"/>
          </a:solidFill>
          <a:ln/>
        </p:spPr>
      </p:sp>
      <p:pic>
        <p:nvPicPr>
          <p:cNvPr id="7" name="Image 0" descr="preencoded.png"/>
          <p:cNvPicPr>
            <a:picLocks noChangeAspect="1"/>
          </p:cNvPicPr>
          <p:nvPr/>
        </p:nvPicPr>
        <p:blipFill>
          <a:blip r:embed="rId3"/>
          <a:stretch>
            <a:fillRect/>
          </a:stretch>
        </p:blipFill>
        <p:spPr>
          <a:xfrm>
            <a:off x="679399" y="3193999"/>
            <a:ext cx="241402" cy="241402"/>
          </a:xfrm>
          <a:prstGeom prst="rect">
            <a:avLst/>
          </a:prstGeom>
        </p:spPr>
      </p:pic>
      <p:sp>
        <p:nvSpPr>
          <p:cNvPr id="8" name="Text 5"/>
          <p:cNvSpPr txBox="1"/>
          <p:nvPr/>
        </p:nvSpPr>
        <p:spPr>
          <a:xfrm>
            <a:off x="1234440" y="3044952"/>
            <a:ext cx="4709160" cy="32004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Pattern-based flagging</a:t>
            </a:r>
            <a:endParaRPr lang="en-US" sz="1400" dirty="0"/>
          </a:p>
        </p:txBody>
      </p:sp>
      <p:sp>
        <p:nvSpPr>
          <p:cNvPr id="9" name="Text 6"/>
          <p:cNvSpPr txBox="1"/>
          <p:nvPr/>
        </p:nvSpPr>
        <p:spPr>
          <a:xfrm>
            <a:off x="1234440" y="3374136"/>
            <a:ext cx="470916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Combines multiple weak signals (meter movement, bill, dampness) into one reliable leak-likelihood flag — hard to do with fixed rules alone.</a:t>
            </a:r>
            <a:endParaRPr lang="en-US" sz="1200" dirty="0"/>
          </a:p>
        </p:txBody>
      </p:sp>
      <p:sp>
        <p:nvSpPr>
          <p:cNvPr id="10" name="Shape 7"/>
          <p:cNvSpPr/>
          <p:nvPr/>
        </p:nvSpPr>
        <p:spPr>
          <a:xfrm>
            <a:off x="6217920" y="3063240"/>
            <a:ext cx="502920" cy="502920"/>
          </a:xfrm>
          <a:prstGeom prst="ellipse">
            <a:avLst/>
          </a:prstGeom>
          <a:solidFill>
            <a:srgbClr val="065A82"/>
          </a:solidFill>
          <a:ln/>
        </p:spPr>
      </p:sp>
      <p:pic>
        <p:nvPicPr>
          <p:cNvPr id="11" name="Image 1" descr="preencoded.png"/>
          <p:cNvPicPr>
            <a:picLocks noChangeAspect="1"/>
          </p:cNvPicPr>
          <p:nvPr/>
        </p:nvPicPr>
        <p:blipFill>
          <a:blip r:embed="rId3"/>
          <a:stretch>
            <a:fillRect/>
          </a:stretch>
        </p:blipFill>
        <p:spPr>
          <a:xfrm>
            <a:off x="6348679" y="3193999"/>
            <a:ext cx="241402" cy="241402"/>
          </a:xfrm>
          <a:prstGeom prst="rect">
            <a:avLst/>
          </a:prstGeom>
        </p:spPr>
      </p:pic>
      <p:sp>
        <p:nvSpPr>
          <p:cNvPr id="12" name="Text 8"/>
          <p:cNvSpPr txBox="1"/>
          <p:nvPr/>
        </p:nvSpPr>
        <p:spPr>
          <a:xfrm>
            <a:off x="6903720" y="3044952"/>
            <a:ext cx="4709160" cy="32004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Personalization at scale</a:t>
            </a:r>
            <a:endParaRPr lang="en-US" sz="1400" dirty="0"/>
          </a:p>
        </p:txBody>
      </p:sp>
      <p:sp>
        <p:nvSpPr>
          <p:cNvPr id="13" name="Text 9"/>
          <p:cNvSpPr txBox="1"/>
          <p:nvPr/>
        </p:nvSpPr>
        <p:spPr>
          <a:xfrm>
            <a:off x="6903720" y="3374136"/>
            <a:ext cx="470916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Every household's habits differ; AI generates tailored tips instead of one generic tip-sheet for everyone.</a:t>
            </a:r>
            <a:endParaRPr lang="en-US" sz="1200" dirty="0"/>
          </a:p>
        </p:txBody>
      </p:sp>
      <p:sp>
        <p:nvSpPr>
          <p:cNvPr id="14" name="Shape 10"/>
          <p:cNvSpPr/>
          <p:nvPr/>
        </p:nvSpPr>
        <p:spPr>
          <a:xfrm>
            <a:off x="548640" y="4572000"/>
            <a:ext cx="502920" cy="502920"/>
          </a:xfrm>
          <a:prstGeom prst="ellipse">
            <a:avLst/>
          </a:prstGeom>
          <a:solidFill>
            <a:srgbClr val="065A82"/>
          </a:solidFill>
          <a:ln/>
        </p:spPr>
      </p:sp>
      <p:pic>
        <p:nvPicPr>
          <p:cNvPr id="15" name="Image 2" descr="preencoded.png"/>
          <p:cNvPicPr>
            <a:picLocks noChangeAspect="1"/>
          </p:cNvPicPr>
          <p:nvPr/>
        </p:nvPicPr>
        <p:blipFill>
          <a:blip r:embed="rId3"/>
          <a:stretch>
            <a:fillRect/>
          </a:stretch>
        </p:blipFill>
        <p:spPr>
          <a:xfrm>
            <a:off x="679399" y="4702759"/>
            <a:ext cx="241402" cy="241402"/>
          </a:xfrm>
          <a:prstGeom prst="rect">
            <a:avLst/>
          </a:prstGeom>
        </p:spPr>
      </p:pic>
      <p:sp>
        <p:nvSpPr>
          <p:cNvPr id="16" name="Text 11"/>
          <p:cNvSpPr txBox="1"/>
          <p:nvPr/>
        </p:nvSpPr>
        <p:spPr>
          <a:xfrm>
            <a:off x="1234440" y="4553712"/>
            <a:ext cx="4709160" cy="32004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Natural language guidance</a:t>
            </a:r>
            <a:endParaRPr lang="en-US" sz="1400" dirty="0"/>
          </a:p>
        </p:txBody>
      </p:sp>
      <p:sp>
        <p:nvSpPr>
          <p:cNvPr id="17" name="Text 12"/>
          <p:cNvSpPr txBox="1"/>
          <p:nvPr/>
        </p:nvSpPr>
        <p:spPr>
          <a:xfrm>
            <a:off x="1234440" y="4882896"/>
            <a:ext cx="470916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Turns numeric flags and calculations into clear, reassuring, actionable explanations anyone can follow.</a:t>
            </a:r>
            <a:endParaRPr lang="en-US" sz="1200" dirty="0"/>
          </a:p>
        </p:txBody>
      </p:sp>
      <p:sp>
        <p:nvSpPr>
          <p:cNvPr id="18" name="Shape 13"/>
          <p:cNvSpPr/>
          <p:nvPr/>
        </p:nvSpPr>
        <p:spPr>
          <a:xfrm>
            <a:off x="6217920" y="4572000"/>
            <a:ext cx="502920" cy="502920"/>
          </a:xfrm>
          <a:prstGeom prst="ellipse">
            <a:avLst/>
          </a:prstGeom>
          <a:solidFill>
            <a:srgbClr val="065A82"/>
          </a:solidFill>
          <a:ln/>
        </p:spPr>
      </p:sp>
      <p:pic>
        <p:nvPicPr>
          <p:cNvPr id="19" name="Image 3" descr="preencoded.png"/>
          <p:cNvPicPr>
            <a:picLocks noChangeAspect="1"/>
          </p:cNvPicPr>
          <p:nvPr/>
        </p:nvPicPr>
        <p:blipFill>
          <a:blip r:embed="rId3"/>
          <a:stretch>
            <a:fillRect/>
          </a:stretch>
        </p:blipFill>
        <p:spPr>
          <a:xfrm>
            <a:off x="6348679" y="4702759"/>
            <a:ext cx="241402" cy="241402"/>
          </a:xfrm>
          <a:prstGeom prst="rect">
            <a:avLst/>
          </a:prstGeom>
        </p:spPr>
      </p:pic>
      <p:sp>
        <p:nvSpPr>
          <p:cNvPr id="20" name="Text 14"/>
          <p:cNvSpPr txBox="1"/>
          <p:nvPr/>
        </p:nvSpPr>
        <p:spPr>
          <a:xfrm>
            <a:off x="6903720" y="4553712"/>
            <a:ext cx="4709160" cy="32004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Transparent reasoning</a:t>
            </a:r>
            <a:endParaRPr lang="en-US" sz="1400" dirty="0"/>
          </a:p>
        </p:txBody>
      </p:sp>
      <p:sp>
        <p:nvSpPr>
          <p:cNvPr id="21" name="Text 15"/>
          <p:cNvSpPr txBox="1"/>
          <p:nvPr/>
        </p:nvSpPr>
        <p:spPr>
          <a:xfrm>
            <a:off x="6903720" y="4882896"/>
            <a:ext cx="470916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Shows its calculation and states assumptions, so users can trust and verify the guidance — not a black box.</a:t>
            </a:r>
            <a:endParaRPr lang="en-US" sz="1200" dirty="0"/>
          </a:p>
        </p:txBody>
      </p:sp>
      <p:sp>
        <p:nvSpPr>
          <p:cNvPr id="22" name="Text 1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3" name="Text 1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50292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Prototype Demo — Leak Detection</a:t>
            </a:r>
            <a:endParaRPr lang="en-US" sz="2600" dirty="0"/>
          </a:p>
        </p:txBody>
      </p:sp>
      <p:sp>
        <p:nvSpPr>
          <p:cNvPr id="3" name="Text 1"/>
          <p:cNvSpPr txBox="1"/>
          <p:nvPr/>
        </p:nvSpPr>
        <p:spPr>
          <a:xfrm>
            <a:off x="548640" y="841248"/>
            <a:ext cx="10058400" cy="320040"/>
          </a:xfrm>
          <a:prstGeom prst="rect">
            <a:avLst/>
          </a:prstGeom>
          <a:noFill/>
          <a:ln/>
        </p:spPr>
        <p:txBody>
          <a:bodyPr wrap="square"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Run on IBM BOB — Household B (Possible Minor Leak)</a:t>
            </a:r>
            <a:endParaRPr lang="en-US" sz="1250" dirty="0"/>
          </a:p>
        </p:txBody>
      </p:sp>
      <p:sp>
        <p:nvSpPr>
          <p:cNvPr id="4" name="Shape 2"/>
          <p:cNvSpPr/>
          <p:nvPr/>
        </p:nvSpPr>
        <p:spPr>
          <a:xfrm>
            <a:off x="548640" y="1325880"/>
            <a:ext cx="5394960" cy="4572000"/>
          </a:xfrm>
          <a:prstGeom prst="roundRect">
            <a:avLst>
              <a:gd name="adj" fmla="val 2000"/>
            </a:avLst>
          </a:prstGeom>
          <a:solidFill>
            <a:srgbClr val="21295C"/>
          </a:solidFill>
          <a:ln/>
        </p:spPr>
      </p:sp>
      <p:sp>
        <p:nvSpPr>
          <p:cNvPr id="5" name="Text 3"/>
          <p:cNvSpPr txBox="1"/>
          <p:nvPr/>
        </p:nvSpPr>
        <p:spPr>
          <a:xfrm>
            <a:off x="868680" y="1508760"/>
            <a:ext cx="2743200" cy="320040"/>
          </a:xfrm>
          <a:prstGeom prst="rect">
            <a:avLst/>
          </a:prstGeom>
          <a:noFill/>
          <a:ln/>
        </p:spPr>
        <p:txBody>
          <a:bodyPr wrap="square" rtlCol="0" anchor="ctr"/>
          <a:lstStyle/>
          <a:p>
            <a:pPr marL="0" indent="0">
              <a:buNone/>
            </a:pPr>
            <a:r>
              <a:rPr lang="en-US" sz="1200" b="1" dirty="0">
                <a:solidFill>
                  <a:srgbClr val="9FD3E8"/>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868680" y="1920240"/>
            <a:ext cx="3291840" cy="36576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Meter moves (taps off)</a:t>
            </a:r>
            <a:endParaRPr lang="en-US" sz="1250" dirty="0"/>
          </a:p>
        </p:txBody>
      </p:sp>
      <p:sp>
        <p:nvSpPr>
          <p:cNvPr id="7" name="Text 5"/>
          <p:cNvSpPr txBox="1"/>
          <p:nvPr/>
        </p:nvSpPr>
        <p:spPr>
          <a:xfrm>
            <a:off x="4160520" y="1920240"/>
            <a:ext cx="1463040" cy="365760"/>
          </a:xfrm>
          <a:prstGeom prst="rect">
            <a:avLst/>
          </a:prstGeom>
          <a:noFill/>
          <a:ln/>
        </p:spPr>
        <p:txBody>
          <a:bodyPr wrap="square"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Yes</a:t>
            </a:r>
            <a:endParaRPr lang="en-US" sz="1250" dirty="0"/>
          </a:p>
        </p:txBody>
      </p:sp>
      <p:sp>
        <p:nvSpPr>
          <p:cNvPr id="8" name="Text 6"/>
          <p:cNvSpPr txBox="1"/>
          <p:nvPr/>
        </p:nvSpPr>
        <p:spPr>
          <a:xfrm>
            <a:off x="868680" y="2377440"/>
            <a:ext cx="3291840" cy="36576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Bill spike</a:t>
            </a:r>
            <a:endParaRPr lang="en-US" sz="1250" dirty="0"/>
          </a:p>
        </p:txBody>
      </p:sp>
      <p:sp>
        <p:nvSpPr>
          <p:cNvPr id="9" name="Text 7"/>
          <p:cNvSpPr txBox="1"/>
          <p:nvPr/>
        </p:nvSpPr>
        <p:spPr>
          <a:xfrm>
            <a:off x="4160520" y="2377440"/>
            <a:ext cx="1463040" cy="365760"/>
          </a:xfrm>
          <a:prstGeom prst="rect">
            <a:avLst/>
          </a:prstGeom>
          <a:noFill/>
          <a:ln/>
        </p:spPr>
        <p:txBody>
          <a:bodyPr wrap="square"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No</a:t>
            </a:r>
            <a:endParaRPr lang="en-US" sz="1250" dirty="0"/>
          </a:p>
        </p:txBody>
      </p:sp>
      <p:sp>
        <p:nvSpPr>
          <p:cNvPr id="10" name="Text 8"/>
          <p:cNvSpPr txBox="1"/>
          <p:nvPr/>
        </p:nvSpPr>
        <p:spPr>
          <a:xfrm>
            <a:off x="868680" y="2834640"/>
            <a:ext cx="3291840" cy="36576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Damp patches</a:t>
            </a:r>
            <a:endParaRPr lang="en-US" sz="1250" dirty="0"/>
          </a:p>
        </p:txBody>
      </p:sp>
      <p:sp>
        <p:nvSpPr>
          <p:cNvPr id="11" name="Text 9"/>
          <p:cNvSpPr txBox="1"/>
          <p:nvPr/>
        </p:nvSpPr>
        <p:spPr>
          <a:xfrm>
            <a:off x="4160520" y="2834640"/>
            <a:ext cx="1463040" cy="365760"/>
          </a:xfrm>
          <a:prstGeom prst="rect">
            <a:avLst/>
          </a:prstGeom>
          <a:noFill/>
          <a:ln/>
        </p:spPr>
        <p:txBody>
          <a:bodyPr wrap="square"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No</a:t>
            </a:r>
            <a:endParaRPr lang="en-US" sz="1250" dirty="0"/>
          </a:p>
        </p:txBody>
      </p:sp>
      <p:sp>
        <p:nvSpPr>
          <p:cNvPr id="12" name="Text 10"/>
          <p:cNvSpPr txBox="1"/>
          <p:nvPr/>
        </p:nvSpPr>
        <p:spPr>
          <a:xfrm>
            <a:off x="868680" y="3291840"/>
            <a:ext cx="3291840" cy="36576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Cistern running</a:t>
            </a:r>
            <a:endParaRPr lang="en-US" sz="1250" dirty="0"/>
          </a:p>
        </p:txBody>
      </p:sp>
      <p:sp>
        <p:nvSpPr>
          <p:cNvPr id="13" name="Text 11"/>
          <p:cNvSpPr txBox="1"/>
          <p:nvPr/>
        </p:nvSpPr>
        <p:spPr>
          <a:xfrm>
            <a:off x="4160520" y="3291840"/>
            <a:ext cx="1463040" cy="365760"/>
          </a:xfrm>
          <a:prstGeom prst="rect">
            <a:avLst/>
          </a:prstGeom>
          <a:noFill/>
          <a:ln/>
        </p:spPr>
        <p:txBody>
          <a:bodyPr wrap="square"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No</a:t>
            </a:r>
            <a:endParaRPr lang="en-US" sz="1250" dirty="0"/>
          </a:p>
        </p:txBody>
      </p:sp>
      <p:sp>
        <p:nvSpPr>
          <p:cNvPr id="14" name="Shape 12"/>
          <p:cNvSpPr/>
          <p:nvPr/>
        </p:nvSpPr>
        <p:spPr>
          <a:xfrm>
            <a:off x="868680" y="3794760"/>
            <a:ext cx="4754880" cy="0"/>
          </a:xfrm>
          <a:prstGeom prst="line">
            <a:avLst/>
          </a:prstGeom>
          <a:noFill/>
          <a:ln w="12700">
            <a:solidFill>
              <a:srgbClr val="3E7CA6"/>
            </a:solidFill>
            <a:prstDash val="solid"/>
          </a:ln>
        </p:spPr>
      </p:sp>
      <p:sp>
        <p:nvSpPr>
          <p:cNvPr id="15" name="Text 13"/>
          <p:cNvSpPr txBox="1"/>
          <p:nvPr/>
        </p:nvSpPr>
        <p:spPr>
          <a:xfrm>
            <a:off x="868680" y="3977640"/>
            <a:ext cx="2743200" cy="320040"/>
          </a:xfrm>
          <a:prstGeom prst="rect">
            <a:avLst/>
          </a:prstGeom>
          <a:noFill/>
          <a:ln/>
        </p:spPr>
        <p:txBody>
          <a:bodyPr wrap="square" rtlCol="0" anchor="ctr"/>
          <a:lstStyle/>
          <a:p>
            <a:pPr marL="0" indent="0">
              <a:buNone/>
            </a:pPr>
            <a:r>
              <a:rPr lang="en-US" sz="1200" dirty="0">
                <a:solidFill>
                  <a:srgbClr val="9FD3E8"/>
                </a:solidFill>
                <a:latin typeface="Calibri" pitchFamily="34" charset="0"/>
                <a:ea typeface="Calibri" pitchFamily="34" charset="-122"/>
                <a:cs typeface="Calibri" pitchFamily="34" charset="-120"/>
              </a:rPr>
              <a:t>Resulting Flag</a:t>
            </a:r>
            <a:endParaRPr lang="en-US" sz="1200" dirty="0"/>
          </a:p>
        </p:txBody>
      </p:sp>
      <p:sp>
        <p:nvSpPr>
          <p:cNvPr id="16" name="Shape 14"/>
          <p:cNvSpPr/>
          <p:nvPr/>
        </p:nvSpPr>
        <p:spPr>
          <a:xfrm>
            <a:off x="868680" y="4343400"/>
            <a:ext cx="3291840" cy="502920"/>
          </a:xfrm>
          <a:prstGeom prst="roundRect">
            <a:avLst>
              <a:gd name="adj" fmla="val 14545"/>
            </a:avLst>
          </a:prstGeom>
          <a:solidFill>
            <a:srgbClr val="E8A33D"/>
          </a:solidFill>
          <a:ln/>
        </p:spPr>
      </p:sp>
      <p:sp>
        <p:nvSpPr>
          <p:cNvPr id="17" name="Text 15"/>
          <p:cNvSpPr txBox="1"/>
          <p:nvPr/>
        </p:nvSpPr>
        <p:spPr>
          <a:xfrm>
            <a:off x="868680" y="4343400"/>
            <a:ext cx="3291840" cy="502920"/>
          </a:xfrm>
          <a:prstGeom prst="rect">
            <a:avLst/>
          </a:prstGeom>
          <a:noFill/>
          <a:ln/>
        </p:spPr>
        <p:txBody>
          <a:bodyPr wrap="square" rtlCol="0" anchor="ctr"/>
          <a:lstStyle/>
          <a:p>
            <a:pPr marL="0" indent="0" algn="ctr">
              <a:buNone/>
            </a:pPr>
            <a:r>
              <a:rPr lang="en-US" sz="1300" b="1" dirty="0">
                <a:solidFill>
                  <a:srgbClr val="2B1A00"/>
                </a:solidFill>
                <a:latin typeface="Calibri" pitchFamily="34" charset="0"/>
                <a:ea typeface="Calibri" pitchFamily="34" charset="-122"/>
                <a:cs typeface="Calibri" pitchFamily="34" charset="-120"/>
              </a:rPr>
              <a:t>Possible Minor Leak</a:t>
            </a:r>
            <a:endParaRPr lang="en-US" sz="1300" dirty="0"/>
          </a:p>
        </p:txBody>
      </p:sp>
      <p:sp>
        <p:nvSpPr>
          <p:cNvPr id="18" name="Shape 16"/>
          <p:cNvSpPr/>
          <p:nvPr/>
        </p:nvSpPr>
        <p:spPr>
          <a:xfrm>
            <a:off x="6217920" y="1325880"/>
            <a:ext cx="5394960" cy="4572000"/>
          </a:xfrm>
          <a:prstGeom prst="roundRect">
            <a:avLst>
              <a:gd name="adj" fmla="val 2000"/>
            </a:avLst>
          </a:prstGeom>
          <a:solidFill>
            <a:srgbClr val="FFFFFF"/>
          </a:solidFill>
          <a:ln w="12700">
            <a:solidFill>
              <a:srgbClr val="DCE6EA"/>
            </a:solidFill>
            <a:prstDash val="solid"/>
          </a:ln>
          <a:effectLst>
            <a:outerShdw blurRad="76200" dist="25400" dir="5400000" algn="bl" rotWithShape="0">
              <a:srgbClr val="223344">
                <a:alpha val="12000"/>
              </a:srgbClr>
            </a:outerShdw>
          </a:effectLst>
        </p:spPr>
      </p:sp>
      <p:sp>
        <p:nvSpPr>
          <p:cNvPr id="19" name="Text 17"/>
          <p:cNvSpPr txBox="1"/>
          <p:nvPr/>
        </p:nvSpPr>
        <p:spPr>
          <a:xfrm>
            <a:off x="6537960" y="1508760"/>
            <a:ext cx="274320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AI OUTPUT</a:t>
            </a:r>
            <a:endParaRPr lang="en-US" sz="1200" dirty="0"/>
          </a:p>
        </p:txBody>
      </p:sp>
      <p:sp>
        <p:nvSpPr>
          <p:cNvPr id="20" name="Text 18"/>
          <p:cNvSpPr txBox="1"/>
          <p:nvPr/>
        </p:nvSpPr>
        <p:spPr>
          <a:xfrm>
            <a:off x="6537960" y="1920240"/>
            <a:ext cx="4754880" cy="14630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Your water meter is still moving even when all the taps are off, which suggests a small amount of water may be escaping somewhere in your home's pipes or fittings. The good news is the other signs — bill, walls, cistern — all look normal, so if there is a leak, it's likely small and caught early.</a:t>
            </a:r>
            <a:endParaRPr lang="en-US" sz="1250" dirty="0"/>
          </a:p>
        </p:txBody>
      </p:sp>
      <p:sp>
        <p:nvSpPr>
          <p:cNvPr id="21" name="Text 19"/>
          <p:cNvSpPr txBox="1"/>
          <p:nvPr/>
        </p:nvSpPr>
        <p:spPr>
          <a:xfrm>
            <a:off x="6537960" y="3429000"/>
            <a:ext cx="2743200" cy="320040"/>
          </a:xfrm>
          <a:prstGeom prst="rect">
            <a:avLst/>
          </a:prstGeom>
          <a:noFill/>
          <a:ln/>
        </p:spPr>
        <p:txBody>
          <a:bodyPr wrap="square" rtlCol="0" anchor="ctr"/>
          <a:lstStyle/>
          <a:p>
            <a:pPr marL="0" indent="0">
              <a:buNone/>
            </a:pPr>
            <a:r>
              <a:rPr lang="en-US" sz="1300" b="1" dirty="0">
                <a:solidFill>
                  <a:srgbClr val="21295C"/>
                </a:solidFill>
                <a:latin typeface="Cambria" pitchFamily="34" charset="0"/>
                <a:ea typeface="Cambria" pitchFamily="34" charset="-122"/>
                <a:cs typeface="Cambria" pitchFamily="34" charset="-120"/>
              </a:rPr>
              <a:t>Next Steps</a:t>
            </a:r>
            <a:endParaRPr lang="en-US" sz="1300" dirty="0"/>
          </a:p>
        </p:txBody>
      </p:sp>
      <p:sp>
        <p:nvSpPr>
          <p:cNvPr id="22" name="Text 20"/>
          <p:cNvSpPr txBox="1"/>
          <p:nvPr/>
        </p:nvSpPr>
        <p:spPr>
          <a:xfrm>
            <a:off x="6537960" y="3794760"/>
            <a:ext cx="4754880" cy="2011680"/>
          </a:xfrm>
          <a:prstGeom prst="rect">
            <a:avLst/>
          </a:prstGeom>
          <a:noFill/>
          <a:ln/>
        </p:spPr>
        <p:txBody>
          <a:bodyPr wrap="square" rtlCol="0" anchor="t"/>
          <a:lstStyle/>
          <a:p>
            <a:pPr marL="342900" indent="-342900">
              <a:spcAft>
                <a:spcPts val="800"/>
              </a:spcAft>
              <a:buSzPct val="100000"/>
              <a:buChar char="•"/>
            </a:pPr>
            <a:r>
              <a:rPr lang="en-US" sz="1200" dirty="0">
                <a:solidFill>
                  <a:srgbClr val="1A2733"/>
                </a:solidFill>
                <a:latin typeface="Calibri" pitchFamily="34" charset="0"/>
                <a:ea typeface="Calibri" pitchFamily="34" charset="-122"/>
                <a:cs typeface="Calibri" pitchFamily="34" charset="-120"/>
              </a:rPr>
              <a:t>Put food colouring in the toilet tank, wait 15 min without flushing — colour in the bowl signals a silent toilet leak.</a:t>
            </a:r>
            <a:endParaRPr lang="en-US" sz="1200" dirty="0"/>
          </a:p>
          <a:p>
            <a:pPr marL="342900" indent="-342900">
              <a:spcAft>
                <a:spcPts val="800"/>
              </a:spcAft>
              <a:buSzPct val="100000"/>
              <a:buChar char="•"/>
            </a:pPr>
            <a:r>
              <a:rPr lang="en-US" sz="1200" dirty="0">
                <a:solidFill>
                  <a:srgbClr val="1A2733"/>
                </a:solidFill>
                <a:latin typeface="Calibri" pitchFamily="34" charset="0"/>
                <a:ea typeface="Calibri" pitchFamily="34" charset="-122"/>
                <a:cs typeface="Calibri" pitchFamily="34" charset="-120"/>
              </a:rPr>
              <a:t>Turn off the main stopcock overnight; if the meter still moves, contact your water supplier to check the supply pipe.</a:t>
            </a:r>
            <a:endParaRPr lang="en-US" sz="1200" dirty="0"/>
          </a:p>
        </p:txBody>
      </p:sp>
      <p:sp>
        <p:nvSpPr>
          <p:cNvPr id="23" name="Text 21"/>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50292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Prototype Demo — Habit Advisory</a:t>
            </a:r>
            <a:endParaRPr lang="en-US" sz="2600" dirty="0"/>
          </a:p>
        </p:txBody>
      </p:sp>
      <p:sp>
        <p:nvSpPr>
          <p:cNvPr id="3" name="Text 1"/>
          <p:cNvSpPr txBox="1"/>
          <p:nvPr/>
        </p:nvSpPr>
        <p:spPr>
          <a:xfrm>
            <a:off x="548640" y="841248"/>
            <a:ext cx="10058400" cy="320040"/>
          </a:xfrm>
          <a:prstGeom prst="rect">
            <a:avLst/>
          </a:prstGeom>
          <a:noFill/>
          <a:ln/>
        </p:spPr>
        <p:txBody>
          <a:bodyPr wrap="square"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Run on IBM BOB — Household B habits, with transparent calculation</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406640" cy="2103120"/>
        </p:xfrm>
        <a:graphic>
          <a:graphicData uri="http://schemas.openxmlformats.org/drawingml/2006/table">
            <a:tbl>
              <a:tblPr/>
              <a:tblGrid>
                <a:gridCol w="3017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Habit</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Calculation</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Monthly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Shower</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12 min × 9 L/min × 30 days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3,240 L</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Dishes (tap running)</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6 L/min × ~10 min × 30 days (assumed)</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1,800 L</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Garden hose</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15 L/min × 10 min × 30 days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4,500 L</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Washing machine (half-full)</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65 L ÷ 0.5 × 15 runs/month (assumed)</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150" dirty="0">
                          <a:solidFill>
                            <a:srgbClr val="1A2733"/>
                          </a:solidFill>
                          <a:latin typeface="Calibri" pitchFamily="34" charset="0"/>
                          <a:ea typeface="Calibri" pitchFamily="34" charset="-122"/>
                          <a:cs typeface="Calibri" pitchFamily="34" charset="-120"/>
                        </a:rPr>
                        <a:t>1,950 L</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8183880" y="1280160"/>
            <a:ext cx="3429000" cy="2103120"/>
          </a:xfrm>
          <a:prstGeom prst="roundRect">
            <a:avLst>
              <a:gd name="adj" fmla="val 4348"/>
            </a:avLst>
          </a:prstGeom>
          <a:solidFill>
            <a:srgbClr val="21295C"/>
          </a:solidFill>
          <a:ln/>
        </p:spPr>
      </p:sp>
      <p:sp>
        <p:nvSpPr>
          <p:cNvPr id="6" name="Text 3"/>
          <p:cNvSpPr txBox="1"/>
          <p:nvPr/>
        </p:nvSpPr>
        <p:spPr>
          <a:xfrm>
            <a:off x="8412480" y="1463040"/>
            <a:ext cx="3017520" cy="365760"/>
          </a:xfrm>
          <a:prstGeom prst="rect">
            <a:avLst/>
          </a:prstGeom>
          <a:noFill/>
          <a:ln/>
        </p:spPr>
        <p:txBody>
          <a:bodyPr wrap="square" rtlCol="0" anchor="ctr"/>
          <a:lstStyle/>
          <a:p>
            <a:pPr marL="0" indent="0">
              <a:buNone/>
            </a:pPr>
            <a:r>
              <a:rPr lang="en-US" sz="1100" b="1" dirty="0">
                <a:solidFill>
                  <a:srgbClr val="9FD3E8"/>
                </a:solidFill>
                <a:latin typeface="Calibri" pitchFamily="34" charset="0"/>
                <a:ea typeface="Calibri" pitchFamily="34" charset="-122"/>
                <a:cs typeface="Calibri" pitchFamily="34" charset="-120"/>
              </a:rPr>
              <a:t>ESTIMATED MONTHLY TOTAL</a:t>
            </a:r>
            <a:endParaRPr lang="en-US" sz="1100" dirty="0"/>
          </a:p>
        </p:txBody>
      </p:sp>
      <p:sp>
        <p:nvSpPr>
          <p:cNvPr id="7" name="Text 4"/>
          <p:cNvSpPr txBox="1"/>
          <p:nvPr/>
        </p:nvSpPr>
        <p:spPr>
          <a:xfrm>
            <a:off x="8412480" y="1828800"/>
            <a:ext cx="3017520" cy="6858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11,490 L</a:t>
            </a:r>
            <a:endParaRPr lang="en-US" sz="3400" dirty="0"/>
          </a:p>
        </p:txBody>
      </p:sp>
      <p:sp>
        <p:nvSpPr>
          <p:cNvPr id="4" name="Text 5"/>
          <p:cNvSpPr txBox="1"/>
          <p:nvPr/>
        </p:nvSpPr>
        <p:spPr>
          <a:xfrm>
            <a:off x="8412480" y="2560320"/>
            <a:ext cx="3017520" cy="777240"/>
          </a:xfrm>
          <a:prstGeom prst="rect">
            <a:avLst/>
          </a:prstGeom>
          <a:noFill/>
          <a:ln/>
        </p:spPr>
        <p:txBody>
          <a:bodyPr wrap="square" rtlCol="0" anchor="t"/>
          <a:lstStyle/>
          <a:p>
            <a:pPr marL="0" indent="0">
              <a:buNone/>
            </a:pPr>
            <a:r>
              <a:rPr lang="en-US" sz="1000" i="1" dirty="0">
                <a:solidFill>
                  <a:srgbClr val="CADCFC"/>
                </a:solidFill>
                <a:latin typeface="Calibri" pitchFamily="34" charset="0"/>
                <a:ea typeface="Calibri" pitchFamily="34" charset="-122"/>
                <a:cs typeface="Calibri" pitchFamily="34" charset="-120"/>
              </a:rPr>
              <a:t>⚠ Assumption noted: dish-washing session length assumed at 10 min/day — flagged by the AI for transparency.</a:t>
            </a:r>
            <a:endParaRPr lang="en-US" sz="1000" dirty="0"/>
          </a:p>
        </p:txBody>
      </p:sp>
      <p:sp>
        <p:nvSpPr>
          <p:cNvPr id="9" name="Shape 6"/>
          <p:cNvSpPr/>
          <p:nvPr/>
        </p:nvSpPr>
        <p:spPr>
          <a:xfrm>
            <a:off x="548640" y="3657600"/>
            <a:ext cx="11064240" cy="777240"/>
          </a:xfrm>
          <a:prstGeom prst="roundRect">
            <a:avLst>
              <a:gd name="adj" fmla="val 11765"/>
            </a:avLst>
          </a:prstGeom>
          <a:solidFill>
            <a:srgbClr val="FCEBE6"/>
          </a:solidFill>
          <a:ln/>
        </p:spPr>
      </p:sp>
      <p:sp>
        <p:nvSpPr>
          <p:cNvPr id="10" name="Shape 7"/>
          <p:cNvSpPr/>
          <p:nvPr/>
        </p:nvSpPr>
        <p:spPr>
          <a:xfrm>
            <a:off x="777240" y="3794760"/>
            <a:ext cx="502920" cy="502920"/>
          </a:xfrm>
          <a:prstGeom prst="ellipse">
            <a:avLst/>
          </a:prstGeom>
          <a:solidFill>
            <a:srgbClr val="B8452F"/>
          </a:solidFill>
          <a:ln/>
        </p:spPr>
      </p:sp>
      <p:pic>
        <p:nvPicPr>
          <p:cNvPr id="11" name="Image 0" descr="preencoded.png"/>
          <p:cNvPicPr>
            <a:picLocks noChangeAspect="1"/>
          </p:cNvPicPr>
          <p:nvPr/>
        </p:nvPicPr>
        <p:blipFill>
          <a:blip r:embed="rId3"/>
          <a:stretch>
            <a:fillRect/>
          </a:stretch>
        </p:blipFill>
        <p:spPr>
          <a:xfrm>
            <a:off x="907999" y="3925519"/>
            <a:ext cx="241402" cy="241402"/>
          </a:xfrm>
          <a:prstGeom prst="rect">
            <a:avLst/>
          </a:prstGeom>
        </p:spPr>
      </p:pic>
      <p:sp>
        <p:nvSpPr>
          <p:cNvPr id="12" name="Text 8"/>
          <p:cNvSpPr txBox="1"/>
          <p:nvPr/>
        </p:nvSpPr>
        <p:spPr>
          <a:xfrm>
            <a:off x="1463040" y="3657600"/>
            <a:ext cx="9966960" cy="777240"/>
          </a:xfrm>
          <a:prstGeom prst="rect">
            <a:avLst/>
          </a:prstGeom>
          <a:noFill/>
          <a:ln/>
        </p:spPr>
        <p:txBody>
          <a:bodyPr wrap="square" rtlCol="0" anchor="ctr"/>
          <a:lstStyle/>
          <a:p>
            <a:pPr marL="0" indent="0">
              <a:buNone/>
            </a:pPr>
            <a:r>
              <a:rPr lang="en-US" sz="1300" b="1" dirty="0">
                <a:solidFill>
                  <a:srgbClr val="B8452F"/>
                </a:solidFill>
                <a:latin typeface="Calibri" pitchFamily="34" charset="0"/>
                <a:ea typeface="Calibri" pitchFamily="34" charset="-122"/>
                <a:cs typeface="Calibri" pitchFamily="34" charset="-120"/>
              </a:rPr>
              <a:t>Biggest Area of Waste: </a:t>
            </a:r>
            <a:r>
              <a:rPr lang="en-US" sz="1300" dirty="0">
                <a:solidFill>
                  <a:srgbClr val="1A2733"/>
                </a:solidFill>
                <a:latin typeface="Calibri" pitchFamily="34" charset="0"/>
                <a:ea typeface="Calibri" pitchFamily="34" charset="-122"/>
                <a:cs typeface="Calibri" pitchFamily="34" charset="-120"/>
              </a:rPr>
              <a:t>Garden watering — ~4,500 L/month (39% of total use), largely lost to daytime evaporation.</a:t>
            </a:r>
            <a:endParaRPr lang="en-US" sz="1300" dirty="0"/>
          </a:p>
        </p:txBody>
      </p:sp>
      <p:sp>
        <p:nvSpPr>
          <p:cNvPr id="13" name="Shape 9"/>
          <p:cNvSpPr/>
          <p:nvPr/>
        </p:nvSpPr>
        <p:spPr>
          <a:xfrm>
            <a:off x="548640" y="4663440"/>
            <a:ext cx="5349240" cy="1280160"/>
          </a:xfrm>
          <a:prstGeom prst="roundRect">
            <a:avLst>
              <a:gd name="adj" fmla="val 7143"/>
            </a:avLst>
          </a:prstGeom>
          <a:solidFill>
            <a:srgbClr val="E9F5EF"/>
          </a:solidFill>
          <a:ln/>
        </p:spPr>
      </p:sp>
      <p:sp>
        <p:nvSpPr>
          <p:cNvPr id="14" name="Shape 10"/>
          <p:cNvSpPr/>
          <p:nvPr/>
        </p:nvSpPr>
        <p:spPr>
          <a:xfrm>
            <a:off x="777240" y="4864608"/>
            <a:ext cx="502920" cy="502920"/>
          </a:xfrm>
          <a:prstGeom prst="ellipse">
            <a:avLst/>
          </a:prstGeom>
          <a:solidFill>
            <a:srgbClr val="2C8C6B"/>
          </a:solidFill>
          <a:ln/>
        </p:spPr>
      </p:sp>
      <p:pic>
        <p:nvPicPr>
          <p:cNvPr id="15" name="Image 1" descr="preencoded.png"/>
          <p:cNvPicPr>
            <a:picLocks noChangeAspect="1"/>
          </p:cNvPicPr>
          <p:nvPr/>
        </p:nvPicPr>
        <p:blipFill>
          <a:blip r:embed="rId4"/>
          <a:stretch>
            <a:fillRect/>
          </a:stretch>
        </p:blipFill>
        <p:spPr>
          <a:xfrm>
            <a:off x="907999" y="4995367"/>
            <a:ext cx="241402" cy="241402"/>
          </a:xfrm>
          <a:prstGeom prst="rect">
            <a:avLst/>
          </a:prstGeom>
        </p:spPr>
      </p:pic>
      <p:sp>
        <p:nvSpPr>
          <p:cNvPr id="16" name="Text 11"/>
          <p:cNvSpPr txBox="1"/>
          <p:nvPr/>
        </p:nvSpPr>
        <p:spPr>
          <a:xfrm>
            <a:off x="1463040" y="4773168"/>
            <a:ext cx="4297680" cy="365760"/>
          </a:xfrm>
          <a:prstGeom prst="rect">
            <a:avLst/>
          </a:prstGeom>
          <a:noFill/>
          <a:ln/>
        </p:spPr>
        <p:txBody>
          <a:bodyPr wrap="square" rtlCol="0" anchor="ctr"/>
          <a:lstStyle/>
          <a:p>
            <a:pPr marL="0" indent="0">
              <a:buNone/>
            </a:pPr>
            <a:r>
              <a:rPr lang="en-US" sz="1300" b="1" dirty="0">
                <a:solidFill>
                  <a:srgbClr val="2C8C6B"/>
                </a:solidFill>
                <a:latin typeface="Cambria" pitchFamily="34" charset="0"/>
                <a:ea typeface="Cambria" pitchFamily="34" charset="-122"/>
                <a:cs typeface="Cambria" pitchFamily="34" charset="-120"/>
              </a:rPr>
              <a:t>Water early morning + timer nozzle</a:t>
            </a:r>
            <a:endParaRPr lang="en-US" sz="1300" dirty="0"/>
          </a:p>
        </p:txBody>
      </p:sp>
      <p:sp>
        <p:nvSpPr>
          <p:cNvPr id="17" name="Text 12"/>
          <p:cNvSpPr txBox="1"/>
          <p:nvPr/>
        </p:nvSpPr>
        <p:spPr>
          <a:xfrm>
            <a:off x="1463040" y="5138928"/>
            <a:ext cx="4297680" cy="685800"/>
          </a:xfrm>
          <a:prstGeom prst="rect">
            <a:avLst/>
          </a:prstGeom>
          <a:noFill/>
          <a:ln/>
        </p:spPr>
        <p:txBody>
          <a:bodyPr wrap="square" rtlCol="0" anchor="t"/>
          <a:lstStyle/>
          <a:p>
            <a:pPr marL="0" indent="0">
              <a:buNone/>
            </a:pPr>
            <a:r>
              <a:rPr lang="en-US" sz="1150" dirty="0">
                <a:solidFill>
                  <a:srgbClr val="1A2733"/>
                </a:solidFill>
                <a:latin typeface="Calibri" pitchFamily="34" charset="0"/>
                <a:ea typeface="Calibri" pitchFamily="34" charset="-122"/>
                <a:cs typeface="Calibri" pitchFamily="34" charset="-120"/>
              </a:rPr>
              <a:t>Before 8 a.m. cuts watering time nearly in half with the same plant health.</a:t>
            </a:r>
            <a:endParaRPr lang="en-US" sz="1150" dirty="0"/>
          </a:p>
        </p:txBody>
      </p:sp>
      <p:sp>
        <p:nvSpPr>
          <p:cNvPr id="18" name="Shape 13"/>
          <p:cNvSpPr/>
          <p:nvPr/>
        </p:nvSpPr>
        <p:spPr>
          <a:xfrm>
            <a:off x="6172200" y="4663440"/>
            <a:ext cx="5349240" cy="1280160"/>
          </a:xfrm>
          <a:prstGeom prst="roundRect">
            <a:avLst>
              <a:gd name="adj" fmla="val 7143"/>
            </a:avLst>
          </a:prstGeom>
          <a:solidFill>
            <a:srgbClr val="E9F5EF"/>
          </a:solidFill>
          <a:ln/>
        </p:spPr>
      </p:sp>
      <p:sp>
        <p:nvSpPr>
          <p:cNvPr id="19" name="Shape 14"/>
          <p:cNvSpPr/>
          <p:nvPr/>
        </p:nvSpPr>
        <p:spPr>
          <a:xfrm>
            <a:off x="6400800" y="4864608"/>
            <a:ext cx="502920" cy="502920"/>
          </a:xfrm>
          <a:prstGeom prst="ellipse">
            <a:avLst/>
          </a:prstGeom>
          <a:solidFill>
            <a:srgbClr val="2C8C6B"/>
          </a:solidFill>
          <a:ln/>
        </p:spPr>
      </p:sp>
      <p:pic>
        <p:nvPicPr>
          <p:cNvPr id="20" name="Image 2" descr="preencoded.png"/>
          <p:cNvPicPr>
            <a:picLocks noChangeAspect="1"/>
          </p:cNvPicPr>
          <p:nvPr/>
        </p:nvPicPr>
        <p:blipFill>
          <a:blip r:embed="rId4"/>
          <a:stretch>
            <a:fillRect/>
          </a:stretch>
        </p:blipFill>
        <p:spPr>
          <a:xfrm>
            <a:off x="6531559" y="4995367"/>
            <a:ext cx="241402" cy="241402"/>
          </a:xfrm>
          <a:prstGeom prst="rect">
            <a:avLst/>
          </a:prstGeom>
        </p:spPr>
      </p:pic>
      <p:sp>
        <p:nvSpPr>
          <p:cNvPr id="21" name="Text 15"/>
          <p:cNvSpPr txBox="1"/>
          <p:nvPr/>
        </p:nvSpPr>
        <p:spPr>
          <a:xfrm>
            <a:off x="7086600" y="4773168"/>
            <a:ext cx="4297680" cy="365760"/>
          </a:xfrm>
          <a:prstGeom prst="rect">
            <a:avLst/>
          </a:prstGeom>
          <a:noFill/>
          <a:ln/>
        </p:spPr>
        <p:txBody>
          <a:bodyPr wrap="square" rtlCol="0" anchor="ctr"/>
          <a:lstStyle/>
          <a:p>
            <a:pPr marL="0" indent="0">
              <a:buNone/>
            </a:pPr>
            <a:r>
              <a:rPr lang="en-US" sz="1300" b="1" dirty="0">
                <a:solidFill>
                  <a:srgbClr val="2C8C6B"/>
                </a:solidFill>
                <a:latin typeface="Cambria" pitchFamily="34" charset="0"/>
                <a:ea typeface="Cambria" pitchFamily="34" charset="-122"/>
                <a:cs typeface="Cambria" pitchFamily="34" charset="-120"/>
              </a:rPr>
              <a:t>Only run full laundry loads</a:t>
            </a:r>
            <a:endParaRPr lang="en-US" sz="1300" dirty="0"/>
          </a:p>
        </p:txBody>
      </p:sp>
      <p:sp>
        <p:nvSpPr>
          <p:cNvPr id="22" name="Text 16"/>
          <p:cNvSpPr txBox="1"/>
          <p:nvPr/>
        </p:nvSpPr>
        <p:spPr>
          <a:xfrm>
            <a:off x="7086600" y="5138928"/>
            <a:ext cx="4297680" cy="685800"/>
          </a:xfrm>
          <a:prstGeom prst="rect">
            <a:avLst/>
          </a:prstGeom>
          <a:noFill/>
          <a:ln/>
        </p:spPr>
        <p:txBody>
          <a:bodyPr wrap="square" rtlCol="0" anchor="t"/>
          <a:lstStyle/>
          <a:p>
            <a:pPr marL="0" indent="0">
              <a:buNone/>
            </a:pPr>
            <a:r>
              <a:rPr lang="en-US" sz="1150" dirty="0">
                <a:solidFill>
                  <a:srgbClr val="1A2733"/>
                </a:solidFill>
                <a:latin typeface="Calibri" pitchFamily="34" charset="0"/>
                <a:ea typeface="Calibri" pitchFamily="34" charset="-122"/>
                <a:cs typeface="Calibri" pitchFamily="34" charset="-120"/>
              </a:rPr>
              <a:t>Waiting for a full load could save ~975 L/month vs. half-full runs.</a:t>
            </a:r>
            <a:endParaRPr lang="en-US" sz="1150" dirty="0"/>
          </a:p>
        </p:txBody>
      </p:sp>
      <p:sp>
        <p:nvSpPr>
          <p:cNvPr id="23" name="Text 1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4"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Testing &amp; Refinement — Sample Households</a:t>
            </a:r>
            <a:endParaRPr lang="en-US" sz="2600" dirty="0"/>
          </a:p>
        </p:txBody>
      </p:sp>
      <p:sp>
        <p:nvSpPr>
          <p:cNvPr id="3" name="Text 1"/>
          <p:cNvSpPr txBox="1"/>
          <p:nvPr/>
        </p:nvSpPr>
        <p:spPr>
          <a:xfrm>
            <a:off x="548640" y="914400"/>
            <a:ext cx="10789920" cy="365760"/>
          </a:xfrm>
          <a:prstGeom prst="rect">
            <a:avLst/>
          </a:prstGeom>
          <a:noFill/>
          <a:ln/>
        </p:spPr>
        <p:txBody>
          <a:bodyPr wrap="square" rtlCol="0" anchor="ctr"/>
          <a:lstStyle/>
          <a:p>
            <a:pPr marL="0" indent="0">
              <a:buNone/>
            </a:pPr>
            <a:r>
              <a:rPr lang="en-US" sz="1250" i="1" dirty="0">
                <a:solidFill>
                  <a:srgbClr val="5A6B76"/>
                </a:solidFill>
                <a:latin typeface="Calibri" pitchFamily="34" charset="0"/>
                <a:ea typeface="Calibri" pitchFamily="34" charset="-122"/>
                <a:cs typeface="Calibri" pitchFamily="34" charset="-120"/>
              </a:rPr>
              <a:t>A synthetic dataset of 4 household profiles validates the advisor across the full range of outcomes.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108960"/>
        </p:xfrm>
        <a:graphic>
          <a:graphicData uri="http://schemas.openxmlformats.org/drawingml/2006/table">
            <a:tbl>
              <a:tblPr/>
              <a:tblGrid>
                <a:gridCol w="12801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62179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Household</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Leak Flag</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Est. Monthly Use</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Tip</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621792">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Efficient user</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No Leak</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~3,095 L</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Low-flow showerhead → save ~400 L/mo</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Minor leak + moderate habits</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Possible Minor Leak</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~11,490 L</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Full laundry loads → save ~975 L/mo</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Wasteful, no leak</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No Leak</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~13,900 L (est.)</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Reduce shower &amp; garden time</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Major leak, multiple signs</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Likely Major Leak</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~2,850 L (habits only)</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buNone/>
                      </a:pPr>
                      <a:r>
                        <a:rPr lang="en-US" sz="1200" dirty="0">
                          <a:solidFill>
                            <a:srgbClr val="1A2733"/>
                          </a:solidFill>
                          <a:latin typeface="Calibri" pitchFamily="34" charset="0"/>
                          <a:ea typeface="Calibri" pitchFamily="34" charset="-122"/>
                          <a:cs typeface="Calibri" pitchFamily="34" charset="-120"/>
                        </a:rPr>
                        <a:t>Call a plumber within 1–2 days</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846320"/>
            <a:ext cx="11064240" cy="1188720"/>
          </a:xfrm>
          <a:prstGeom prst="roundRect">
            <a:avLst>
              <a:gd name="adj" fmla="val 7692"/>
            </a:avLst>
          </a:prstGeom>
          <a:solidFill>
            <a:srgbClr val="E7F2F7"/>
          </a:solidFill>
          <a:ln/>
        </p:spPr>
      </p:sp>
      <p:sp>
        <p:nvSpPr>
          <p:cNvPr id="6" name="Text 3"/>
          <p:cNvSpPr txBox="1"/>
          <p:nvPr/>
        </p:nvSpPr>
        <p:spPr>
          <a:xfrm>
            <a:off x="868680" y="4846320"/>
            <a:ext cx="10424160" cy="1188720"/>
          </a:xfrm>
          <a:prstGeom prst="rect">
            <a:avLst/>
          </a:prstGeom>
          <a:noFill/>
          <a:ln/>
        </p:spPr>
        <p:txBody>
          <a:bodyPr wrap="square" rtlCol="0" anchor="ctr"/>
          <a:lstStyle/>
          <a:p>
            <a:pPr marL="0" indent="0">
              <a:buNone/>
            </a:pPr>
            <a:r>
              <a:rPr lang="en-US" sz="1300" dirty="0">
                <a:solidFill>
                  <a:srgbClr val="1A2733"/>
                </a:solidFill>
                <a:latin typeface="Calibri" pitchFamily="34" charset="0"/>
                <a:ea typeface="Calibri" pitchFamily="34" charset="-122"/>
                <a:cs typeface="Calibri" pitchFamily="34" charset="-120"/>
              </a:rPr>
              <a:t>Testing across efficient, moderate, wasteful, and urgent-leak scenarios confirmed the advisor responds appropriately in each case — reassuring when safe, specific when habits waste water, and urgent when a major leak is likely. Mentor feedback will be used to refine wording and thresholds further.</a:t>
            </a:r>
            <a:endParaRPr lang="en-US" sz="1300" dirty="0"/>
          </a:p>
        </p:txBody>
      </p:sp>
      <p:sp>
        <p:nvSpPr>
          <p:cNvPr id="7" name="Text 4"/>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8" name="Text 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Responsible AI Considerations</a:t>
            </a:r>
            <a:endParaRPr lang="en-US" sz="2800" dirty="0"/>
          </a:p>
        </p:txBody>
      </p:sp>
      <p:sp>
        <p:nvSpPr>
          <p:cNvPr id="3" name="Shape 1"/>
          <p:cNvSpPr/>
          <p:nvPr/>
        </p:nvSpPr>
        <p:spPr>
          <a:xfrm>
            <a:off x="548640" y="1234440"/>
            <a:ext cx="5394960" cy="2148840"/>
          </a:xfrm>
          <a:prstGeom prst="roundRect">
            <a:avLst>
              <a:gd name="adj" fmla="val 4255"/>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4" name="Shape 2"/>
          <p:cNvSpPr/>
          <p:nvPr/>
        </p:nvSpPr>
        <p:spPr>
          <a:xfrm>
            <a:off x="822960" y="1508760"/>
            <a:ext cx="594360" cy="594360"/>
          </a:xfrm>
          <a:prstGeom prst="ellipse">
            <a:avLst/>
          </a:prstGeom>
          <a:solidFill>
            <a:srgbClr val="065A82"/>
          </a:solidFill>
          <a:ln/>
        </p:spPr>
      </p:sp>
      <p:pic>
        <p:nvPicPr>
          <p:cNvPr id="5" name="Image 0" descr="preencoded.png"/>
          <p:cNvPicPr>
            <a:picLocks noChangeAspect="1"/>
          </p:cNvPicPr>
          <p:nvPr/>
        </p:nvPicPr>
        <p:blipFill>
          <a:blip r:embed="rId3"/>
          <a:stretch>
            <a:fillRect/>
          </a:stretch>
        </p:blipFill>
        <p:spPr>
          <a:xfrm>
            <a:off x="977494" y="1663294"/>
            <a:ext cx="285293" cy="285293"/>
          </a:xfrm>
          <a:prstGeom prst="rect">
            <a:avLst/>
          </a:prstGeom>
        </p:spPr>
      </p:pic>
      <p:sp>
        <p:nvSpPr>
          <p:cNvPr id="6" name="Text 3"/>
          <p:cNvSpPr txBox="1"/>
          <p:nvPr/>
        </p:nvSpPr>
        <p:spPr>
          <a:xfrm>
            <a:off x="1600200" y="1527048"/>
            <a:ext cx="4114800"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Fairness</a:t>
            </a:r>
            <a:endParaRPr lang="en-US" sz="1600" dirty="0"/>
          </a:p>
        </p:txBody>
      </p:sp>
      <p:sp>
        <p:nvSpPr>
          <p:cNvPr id="7" name="Text 4"/>
          <p:cNvSpPr txBox="1"/>
          <p:nvPr/>
        </p:nvSpPr>
        <p:spPr>
          <a:xfrm>
            <a:off x="822960" y="2194560"/>
            <a:ext cx="4846320" cy="109728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Benchmarks (L/min, load size) are general averages, not tied to income, region, or household type. Assumptions are stated explicitly, not silently applied.</a:t>
            </a:r>
            <a:endParaRPr lang="en-US" sz="1200" dirty="0"/>
          </a:p>
        </p:txBody>
      </p:sp>
      <p:sp>
        <p:nvSpPr>
          <p:cNvPr id="8" name="Shape 5"/>
          <p:cNvSpPr/>
          <p:nvPr/>
        </p:nvSpPr>
        <p:spPr>
          <a:xfrm>
            <a:off x="6217920" y="1234440"/>
            <a:ext cx="5394960" cy="2148840"/>
          </a:xfrm>
          <a:prstGeom prst="roundRect">
            <a:avLst>
              <a:gd name="adj" fmla="val 4255"/>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9" name="Shape 6"/>
          <p:cNvSpPr/>
          <p:nvPr/>
        </p:nvSpPr>
        <p:spPr>
          <a:xfrm>
            <a:off x="6492240" y="1508760"/>
            <a:ext cx="594360" cy="594360"/>
          </a:xfrm>
          <a:prstGeom prst="ellipse">
            <a:avLst/>
          </a:prstGeom>
          <a:solidFill>
            <a:srgbClr val="065A82"/>
          </a:solidFill>
          <a:ln/>
        </p:spPr>
      </p:sp>
      <p:pic>
        <p:nvPicPr>
          <p:cNvPr id="10" name="Image 1" descr="preencoded.png"/>
          <p:cNvPicPr>
            <a:picLocks noChangeAspect="1"/>
          </p:cNvPicPr>
          <p:nvPr/>
        </p:nvPicPr>
        <p:blipFill>
          <a:blip r:embed="rId4"/>
          <a:stretch>
            <a:fillRect/>
          </a:stretch>
        </p:blipFill>
        <p:spPr>
          <a:xfrm>
            <a:off x="6646774" y="1663294"/>
            <a:ext cx="285293" cy="285293"/>
          </a:xfrm>
          <a:prstGeom prst="rect">
            <a:avLst/>
          </a:prstGeom>
        </p:spPr>
      </p:pic>
      <p:sp>
        <p:nvSpPr>
          <p:cNvPr id="11" name="Text 7"/>
          <p:cNvSpPr txBox="1"/>
          <p:nvPr/>
        </p:nvSpPr>
        <p:spPr>
          <a:xfrm>
            <a:off x="7269480" y="1527048"/>
            <a:ext cx="4114800"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Transparency</a:t>
            </a:r>
            <a:endParaRPr lang="en-US" sz="1600" dirty="0"/>
          </a:p>
        </p:txBody>
      </p:sp>
      <p:sp>
        <p:nvSpPr>
          <p:cNvPr id="12" name="Text 8"/>
          <p:cNvSpPr txBox="1"/>
          <p:nvPr/>
        </p:nvSpPr>
        <p:spPr>
          <a:xfrm>
            <a:off x="6492240" y="2194560"/>
            <a:ext cx="4846320" cy="109728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The AI shows its calculation steps and flags every assumption made due to missing data, so users can verify the reasoning themselves.</a:t>
            </a:r>
            <a:endParaRPr lang="en-US" sz="1200" dirty="0"/>
          </a:p>
        </p:txBody>
      </p:sp>
      <p:sp>
        <p:nvSpPr>
          <p:cNvPr id="13" name="Shape 9"/>
          <p:cNvSpPr/>
          <p:nvPr/>
        </p:nvSpPr>
        <p:spPr>
          <a:xfrm>
            <a:off x="548640" y="3611880"/>
            <a:ext cx="5394960" cy="2148840"/>
          </a:xfrm>
          <a:prstGeom prst="roundRect">
            <a:avLst>
              <a:gd name="adj" fmla="val 4255"/>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4" name="Shape 10"/>
          <p:cNvSpPr/>
          <p:nvPr/>
        </p:nvSpPr>
        <p:spPr>
          <a:xfrm>
            <a:off x="822960" y="3886200"/>
            <a:ext cx="594360" cy="594360"/>
          </a:xfrm>
          <a:prstGeom prst="ellipse">
            <a:avLst/>
          </a:prstGeom>
          <a:solidFill>
            <a:srgbClr val="065A82"/>
          </a:solidFill>
          <a:ln/>
        </p:spPr>
      </p:sp>
      <p:pic>
        <p:nvPicPr>
          <p:cNvPr id="15" name="Image 2" descr="preencoded.png"/>
          <p:cNvPicPr>
            <a:picLocks noChangeAspect="1"/>
          </p:cNvPicPr>
          <p:nvPr/>
        </p:nvPicPr>
        <p:blipFill>
          <a:blip r:embed="rId5"/>
          <a:stretch>
            <a:fillRect/>
          </a:stretch>
        </p:blipFill>
        <p:spPr>
          <a:xfrm>
            <a:off x="977494" y="4040734"/>
            <a:ext cx="285293" cy="285293"/>
          </a:xfrm>
          <a:prstGeom prst="rect">
            <a:avLst/>
          </a:prstGeom>
        </p:spPr>
      </p:pic>
      <p:sp>
        <p:nvSpPr>
          <p:cNvPr id="16" name="Text 11"/>
          <p:cNvSpPr txBox="1"/>
          <p:nvPr/>
        </p:nvSpPr>
        <p:spPr>
          <a:xfrm>
            <a:off x="1600200" y="3904488"/>
            <a:ext cx="4114800"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Ethics</a:t>
            </a:r>
            <a:endParaRPr lang="en-US" sz="1600" dirty="0"/>
          </a:p>
        </p:txBody>
      </p:sp>
      <p:sp>
        <p:nvSpPr>
          <p:cNvPr id="17" name="Text 12"/>
          <p:cNvSpPr txBox="1"/>
          <p:nvPr/>
        </p:nvSpPr>
        <p:spPr>
          <a:xfrm>
            <a:off x="822960" y="4572000"/>
            <a:ext cx="4846320" cy="109728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The advisor gives guidance and next steps only — it never claims certainty about a leak or replaces a licensed plumber for confirmed major issues.</a:t>
            </a:r>
            <a:endParaRPr lang="en-US" sz="1200" dirty="0"/>
          </a:p>
        </p:txBody>
      </p:sp>
      <p:sp>
        <p:nvSpPr>
          <p:cNvPr id="18" name="Shape 13"/>
          <p:cNvSpPr/>
          <p:nvPr/>
        </p:nvSpPr>
        <p:spPr>
          <a:xfrm>
            <a:off x="6217920" y="3611880"/>
            <a:ext cx="5394960" cy="2148840"/>
          </a:xfrm>
          <a:prstGeom prst="roundRect">
            <a:avLst>
              <a:gd name="adj" fmla="val 4255"/>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9" name="Shape 14"/>
          <p:cNvSpPr/>
          <p:nvPr/>
        </p:nvSpPr>
        <p:spPr>
          <a:xfrm>
            <a:off x="6492240" y="3886200"/>
            <a:ext cx="594360" cy="594360"/>
          </a:xfrm>
          <a:prstGeom prst="ellipse">
            <a:avLst/>
          </a:prstGeom>
          <a:solidFill>
            <a:srgbClr val="065A82"/>
          </a:solidFill>
          <a:ln/>
        </p:spPr>
      </p:sp>
      <p:pic>
        <p:nvPicPr>
          <p:cNvPr id="20" name="Image 3" descr="preencoded.png"/>
          <p:cNvPicPr>
            <a:picLocks noChangeAspect="1"/>
          </p:cNvPicPr>
          <p:nvPr/>
        </p:nvPicPr>
        <p:blipFill>
          <a:blip r:embed="rId6"/>
          <a:stretch>
            <a:fillRect/>
          </a:stretch>
        </p:blipFill>
        <p:spPr>
          <a:xfrm>
            <a:off x="6646774" y="4040734"/>
            <a:ext cx="285293" cy="285293"/>
          </a:xfrm>
          <a:prstGeom prst="rect">
            <a:avLst/>
          </a:prstGeom>
        </p:spPr>
      </p:pic>
      <p:sp>
        <p:nvSpPr>
          <p:cNvPr id="21" name="Text 15"/>
          <p:cNvSpPr txBox="1"/>
          <p:nvPr/>
        </p:nvSpPr>
        <p:spPr>
          <a:xfrm>
            <a:off x="7269480" y="3904488"/>
            <a:ext cx="4114800" cy="36576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Privacy</a:t>
            </a:r>
            <a:endParaRPr lang="en-US" sz="1600" dirty="0"/>
          </a:p>
        </p:txBody>
      </p:sp>
      <p:sp>
        <p:nvSpPr>
          <p:cNvPr id="22" name="Text 16"/>
          <p:cNvSpPr txBox="1"/>
          <p:nvPr/>
        </p:nvSpPr>
        <p:spPr>
          <a:xfrm>
            <a:off x="6492240" y="4572000"/>
            <a:ext cx="4846320" cy="109728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Only water-usage habits and yes/no meter observations are collected — no names, addresses, or account numbers are needed or stored.</a:t>
            </a:r>
            <a:endParaRPr lang="en-US" sz="1200" dirty="0"/>
          </a:p>
        </p:txBody>
      </p:sp>
      <p:sp>
        <p:nvSpPr>
          <p:cNvPr id="23" name="Text 1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4"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Expected Impact</a:t>
            </a:r>
            <a:endParaRPr lang="en-US" sz="3000" dirty="0"/>
          </a:p>
        </p:txBody>
      </p:sp>
      <p:sp>
        <p:nvSpPr>
          <p:cNvPr id="3" name="Shape 1"/>
          <p:cNvSpPr/>
          <p:nvPr/>
        </p:nvSpPr>
        <p:spPr>
          <a:xfrm>
            <a:off x="548640" y="1234440"/>
            <a:ext cx="3538728" cy="1554480"/>
          </a:xfrm>
          <a:prstGeom prst="roundRect">
            <a:avLst>
              <a:gd name="adj" fmla="val 5882"/>
            </a:avLst>
          </a:prstGeom>
          <a:solidFill>
            <a:srgbClr val="065A82"/>
          </a:solidFill>
          <a:ln/>
        </p:spPr>
      </p:sp>
      <p:sp>
        <p:nvSpPr>
          <p:cNvPr id="4" name="Text 2"/>
          <p:cNvSpPr txBox="1"/>
          <p:nvPr/>
        </p:nvSpPr>
        <p:spPr>
          <a:xfrm>
            <a:off x="777240" y="1325880"/>
            <a:ext cx="3081528"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Early</a:t>
            </a:r>
            <a:endParaRPr lang="en-US" sz="3400" dirty="0"/>
          </a:p>
        </p:txBody>
      </p:sp>
      <p:sp>
        <p:nvSpPr>
          <p:cNvPr id="5" name="Text 3"/>
          <p:cNvSpPr txBox="1"/>
          <p:nvPr/>
        </p:nvSpPr>
        <p:spPr>
          <a:xfrm>
            <a:off x="777240" y="2011680"/>
            <a:ext cx="3081528" cy="73152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leak detection — weeks before a bill spike would reveal it</a:t>
            </a:r>
            <a:endParaRPr lang="en-US" sz="1150" dirty="0"/>
          </a:p>
        </p:txBody>
      </p:sp>
      <p:sp>
        <p:nvSpPr>
          <p:cNvPr id="6" name="Shape 4"/>
          <p:cNvSpPr/>
          <p:nvPr/>
        </p:nvSpPr>
        <p:spPr>
          <a:xfrm>
            <a:off x="4306824" y="1234440"/>
            <a:ext cx="3538728" cy="1554480"/>
          </a:xfrm>
          <a:prstGeom prst="roundRect">
            <a:avLst>
              <a:gd name="adj" fmla="val 5882"/>
            </a:avLst>
          </a:prstGeom>
          <a:solidFill>
            <a:srgbClr val="065A82"/>
          </a:solidFill>
          <a:ln/>
        </p:spPr>
      </p:sp>
      <p:sp>
        <p:nvSpPr>
          <p:cNvPr id="7" name="Text 5"/>
          <p:cNvSpPr txBox="1"/>
          <p:nvPr/>
        </p:nvSpPr>
        <p:spPr>
          <a:xfrm>
            <a:off x="4535424" y="1325880"/>
            <a:ext cx="3081528"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8" name="Text 6"/>
          <p:cNvSpPr txBox="1"/>
          <p:nvPr/>
        </p:nvSpPr>
        <p:spPr>
          <a:xfrm>
            <a:off x="4535424" y="2011680"/>
            <a:ext cx="3081528" cy="73152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personalized tips per household, grounded in transparent calculations</a:t>
            </a:r>
            <a:endParaRPr lang="en-US" sz="1150" dirty="0"/>
          </a:p>
        </p:txBody>
      </p:sp>
      <p:sp>
        <p:nvSpPr>
          <p:cNvPr id="9" name="Shape 7"/>
          <p:cNvSpPr/>
          <p:nvPr/>
        </p:nvSpPr>
        <p:spPr>
          <a:xfrm>
            <a:off x="8065008" y="1234440"/>
            <a:ext cx="3538728" cy="1554480"/>
          </a:xfrm>
          <a:prstGeom prst="roundRect">
            <a:avLst>
              <a:gd name="adj" fmla="val 5882"/>
            </a:avLst>
          </a:prstGeom>
          <a:solidFill>
            <a:srgbClr val="065A82"/>
          </a:solidFill>
          <a:ln/>
        </p:spPr>
      </p:sp>
      <p:sp>
        <p:nvSpPr>
          <p:cNvPr id="10" name="Text 8"/>
          <p:cNvSpPr txBox="1"/>
          <p:nvPr/>
        </p:nvSpPr>
        <p:spPr>
          <a:xfrm>
            <a:off x="8293608" y="1325880"/>
            <a:ext cx="3081528"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11" name="Text 9"/>
          <p:cNvSpPr txBox="1"/>
          <p:nvPr/>
        </p:nvSpPr>
        <p:spPr>
          <a:xfrm>
            <a:off x="8293608" y="2011680"/>
            <a:ext cx="3081528" cy="73152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stakeholder groups benefit directly</a:t>
            </a:r>
            <a:endParaRPr lang="en-US" sz="1150" dirty="0"/>
          </a:p>
        </p:txBody>
      </p:sp>
      <p:sp>
        <p:nvSpPr>
          <p:cNvPr id="12" name="Shape 10"/>
          <p:cNvSpPr/>
          <p:nvPr/>
        </p:nvSpPr>
        <p:spPr>
          <a:xfrm>
            <a:off x="548640" y="3063240"/>
            <a:ext cx="548640" cy="548640"/>
          </a:xfrm>
          <a:prstGeom prst="ellipse">
            <a:avLst/>
          </a:prstGeom>
          <a:solidFill>
            <a:srgbClr val="1C7293"/>
          </a:solidFill>
          <a:ln/>
        </p:spPr>
      </p:sp>
      <p:pic>
        <p:nvPicPr>
          <p:cNvPr id="13" name="Image 0" descr="preencoded.png"/>
          <p:cNvPicPr>
            <a:picLocks noChangeAspect="1"/>
          </p:cNvPicPr>
          <p:nvPr/>
        </p:nvPicPr>
        <p:blipFill>
          <a:blip r:embed="rId3"/>
          <a:stretch>
            <a:fillRect/>
          </a:stretch>
        </p:blipFill>
        <p:spPr>
          <a:xfrm>
            <a:off x="691286" y="3205886"/>
            <a:ext cx="263347" cy="263347"/>
          </a:xfrm>
          <a:prstGeom prst="rect">
            <a:avLst/>
          </a:prstGeom>
        </p:spPr>
      </p:pic>
      <p:sp>
        <p:nvSpPr>
          <p:cNvPr id="14" name="Text 11"/>
          <p:cNvSpPr txBox="1"/>
          <p:nvPr/>
        </p:nvSpPr>
        <p:spPr>
          <a:xfrm>
            <a:off x="1234440" y="3044952"/>
            <a:ext cx="2852928" cy="36576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Households</a:t>
            </a:r>
            <a:endParaRPr lang="en-US" sz="1400" dirty="0"/>
          </a:p>
        </p:txBody>
      </p:sp>
      <p:sp>
        <p:nvSpPr>
          <p:cNvPr id="15" name="Text 12"/>
          <p:cNvSpPr txBox="1"/>
          <p:nvPr/>
        </p:nvSpPr>
        <p:spPr>
          <a:xfrm>
            <a:off x="548640" y="3749040"/>
            <a:ext cx="3538728" cy="128016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Lower water bills, reduced wastage, and an easy first check before calling a plumber.</a:t>
            </a:r>
            <a:endParaRPr lang="en-US" sz="1200" dirty="0"/>
          </a:p>
        </p:txBody>
      </p:sp>
      <p:sp>
        <p:nvSpPr>
          <p:cNvPr id="16" name="Shape 13"/>
          <p:cNvSpPr/>
          <p:nvPr/>
        </p:nvSpPr>
        <p:spPr>
          <a:xfrm>
            <a:off x="4306824" y="3063240"/>
            <a:ext cx="548640" cy="548640"/>
          </a:xfrm>
          <a:prstGeom prst="ellipse">
            <a:avLst/>
          </a:prstGeom>
          <a:solidFill>
            <a:srgbClr val="1C7293"/>
          </a:solidFill>
          <a:ln/>
        </p:spPr>
      </p:sp>
      <p:pic>
        <p:nvPicPr>
          <p:cNvPr id="17" name="Image 1" descr="preencoded.png"/>
          <p:cNvPicPr>
            <a:picLocks noChangeAspect="1"/>
          </p:cNvPicPr>
          <p:nvPr/>
        </p:nvPicPr>
        <p:blipFill>
          <a:blip r:embed="rId3"/>
          <a:stretch>
            <a:fillRect/>
          </a:stretch>
        </p:blipFill>
        <p:spPr>
          <a:xfrm>
            <a:off x="4449470" y="3205886"/>
            <a:ext cx="263347" cy="263347"/>
          </a:xfrm>
          <a:prstGeom prst="rect">
            <a:avLst/>
          </a:prstGeom>
        </p:spPr>
      </p:pic>
      <p:sp>
        <p:nvSpPr>
          <p:cNvPr id="18" name="Text 14"/>
          <p:cNvSpPr txBox="1"/>
          <p:nvPr/>
        </p:nvSpPr>
        <p:spPr>
          <a:xfrm>
            <a:off x="4992624" y="3044952"/>
            <a:ext cx="2852928" cy="36576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Water Utilities</a:t>
            </a:r>
            <a:endParaRPr lang="en-US" sz="1400" dirty="0"/>
          </a:p>
        </p:txBody>
      </p:sp>
      <p:sp>
        <p:nvSpPr>
          <p:cNvPr id="19" name="Text 15"/>
          <p:cNvSpPr txBox="1"/>
          <p:nvPr/>
        </p:nvSpPr>
        <p:spPr>
          <a:xfrm>
            <a:off x="4306824" y="3749040"/>
            <a:ext cx="3538728" cy="128016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Reduced overall demand and non-revenue water loss if adopted at scale across a city.</a:t>
            </a:r>
            <a:endParaRPr lang="en-US" sz="1200" dirty="0"/>
          </a:p>
        </p:txBody>
      </p:sp>
      <p:sp>
        <p:nvSpPr>
          <p:cNvPr id="20" name="Shape 16"/>
          <p:cNvSpPr/>
          <p:nvPr/>
        </p:nvSpPr>
        <p:spPr>
          <a:xfrm>
            <a:off x="8065008" y="3063240"/>
            <a:ext cx="548640" cy="548640"/>
          </a:xfrm>
          <a:prstGeom prst="ellipse">
            <a:avLst/>
          </a:prstGeom>
          <a:solidFill>
            <a:srgbClr val="1C7293"/>
          </a:solidFill>
          <a:ln/>
        </p:spPr>
      </p:sp>
      <p:pic>
        <p:nvPicPr>
          <p:cNvPr id="21" name="Image 2" descr="preencoded.png"/>
          <p:cNvPicPr>
            <a:picLocks noChangeAspect="1"/>
          </p:cNvPicPr>
          <p:nvPr/>
        </p:nvPicPr>
        <p:blipFill>
          <a:blip r:embed="rId3"/>
          <a:stretch>
            <a:fillRect/>
          </a:stretch>
        </p:blipFill>
        <p:spPr>
          <a:xfrm>
            <a:off x="8207654" y="3205886"/>
            <a:ext cx="263347" cy="263347"/>
          </a:xfrm>
          <a:prstGeom prst="rect">
            <a:avLst/>
          </a:prstGeom>
        </p:spPr>
      </p:pic>
      <p:sp>
        <p:nvSpPr>
          <p:cNvPr id="22" name="Text 17"/>
          <p:cNvSpPr txBox="1"/>
          <p:nvPr/>
        </p:nvSpPr>
        <p:spPr>
          <a:xfrm>
            <a:off x="8750808" y="3044952"/>
            <a:ext cx="2852928" cy="36576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Environment</a:t>
            </a:r>
            <a:endParaRPr lang="en-US" sz="1400" dirty="0"/>
          </a:p>
        </p:txBody>
      </p:sp>
      <p:sp>
        <p:nvSpPr>
          <p:cNvPr id="23" name="Text 18"/>
          <p:cNvSpPr txBox="1"/>
          <p:nvPr/>
        </p:nvSpPr>
        <p:spPr>
          <a:xfrm>
            <a:off x="8065008" y="3749040"/>
            <a:ext cx="3538728" cy="128016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Less strain on local water sources — especially valuable in water-stressed Indian cities.</a:t>
            </a:r>
            <a:endParaRPr lang="en-US" sz="1200" dirty="0"/>
          </a:p>
        </p:txBody>
      </p:sp>
      <p:sp>
        <p:nvSpPr>
          <p:cNvPr id="24" name="Text 1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5"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How This Project Was Built</a:t>
            </a:r>
            <a:endParaRPr lang="en-US" sz="2800" dirty="0"/>
          </a:p>
        </p:txBody>
      </p:sp>
      <p:sp>
        <p:nvSpPr>
          <p:cNvPr id="3" name="Text 1"/>
          <p:cNvSpPr txBox="1"/>
          <p:nvPr/>
        </p:nvSpPr>
        <p:spPr>
          <a:xfrm>
            <a:off x="548640" y="914400"/>
            <a:ext cx="9144000" cy="365760"/>
          </a:xfrm>
          <a:prstGeom prst="rect">
            <a:avLst/>
          </a:prstGeom>
          <a:noFill/>
          <a:ln/>
        </p:spPr>
        <p:txBody>
          <a:bodyPr wrap="square" rtlCol="0" anchor="ctr"/>
          <a:lstStyle/>
          <a:p>
            <a:pPr marL="0" indent="0">
              <a:buNone/>
            </a:pPr>
            <a:r>
              <a:rPr lang="en-US" sz="1300" i="1" dirty="0">
                <a:solidFill>
                  <a:srgbClr val="5A6B76"/>
                </a:solidFill>
                <a:latin typeface="Calibri" pitchFamily="34" charset="0"/>
                <a:ea typeface="Calibri" pitchFamily="34" charset="-122"/>
                <a:cs typeface="Calibri" pitchFamily="34" charset="-120"/>
              </a:rPr>
              <a:t>A design-thinking process, from empathy to a tested prototype.</a:t>
            </a:r>
            <a:endParaRPr lang="en-US" sz="1300" dirty="0"/>
          </a:p>
        </p:txBody>
      </p:sp>
      <p:sp>
        <p:nvSpPr>
          <p:cNvPr id="4" name="Shape 2"/>
          <p:cNvSpPr/>
          <p:nvPr/>
        </p:nvSpPr>
        <p:spPr>
          <a:xfrm>
            <a:off x="548640" y="1554480"/>
            <a:ext cx="2084832" cy="4206240"/>
          </a:xfrm>
          <a:prstGeom prst="roundRect">
            <a:avLst>
              <a:gd name="adj" fmla="val 4386"/>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5" name="Shape 3"/>
          <p:cNvSpPr/>
          <p:nvPr/>
        </p:nvSpPr>
        <p:spPr>
          <a:xfrm>
            <a:off x="1316736" y="1810512"/>
            <a:ext cx="548640" cy="54864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1459382" y="1953158"/>
            <a:ext cx="263347" cy="263347"/>
          </a:xfrm>
          <a:prstGeom prst="rect">
            <a:avLst/>
          </a:prstGeom>
        </p:spPr>
      </p:pic>
      <p:sp>
        <p:nvSpPr>
          <p:cNvPr id="7" name="Text 4"/>
          <p:cNvSpPr txBox="1"/>
          <p:nvPr/>
        </p:nvSpPr>
        <p:spPr>
          <a:xfrm>
            <a:off x="685800" y="2560320"/>
            <a:ext cx="1810512" cy="502920"/>
          </a:xfrm>
          <a:prstGeom prst="rect">
            <a:avLst/>
          </a:prstGeom>
          <a:noFill/>
          <a:ln/>
        </p:spPr>
        <p:txBody>
          <a:bodyPr wrap="square"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1. Empathize</a:t>
            </a:r>
            <a:endParaRPr lang="en-US" sz="1350" dirty="0"/>
          </a:p>
        </p:txBody>
      </p:sp>
      <p:sp>
        <p:nvSpPr>
          <p:cNvPr id="8" name="Text 5"/>
          <p:cNvSpPr txBox="1"/>
          <p:nvPr/>
        </p:nvSpPr>
        <p:spPr>
          <a:xfrm>
            <a:off x="713232" y="3063240"/>
            <a:ext cx="1755648" cy="2468880"/>
          </a:xfrm>
          <a:prstGeom prst="rect">
            <a:avLst/>
          </a:prstGeom>
          <a:noFill/>
          <a:ln/>
        </p:spPr>
        <p:txBody>
          <a:bodyPr wrap="square" rtlCol="0" anchor="t"/>
          <a:lstStyle/>
          <a:p>
            <a:pPr marL="0" indent="0" algn="ctr">
              <a:buNone/>
            </a:pPr>
            <a:r>
              <a:rPr lang="en-US" sz="1080" dirty="0">
                <a:solidFill>
                  <a:srgbClr val="1A2733"/>
                </a:solidFill>
                <a:latin typeface="Calibri" pitchFamily="34" charset="0"/>
                <a:ea typeface="Calibri" pitchFamily="34" charset="-122"/>
                <a:cs typeface="Calibri" pitchFamily="34" charset="-120"/>
              </a:rPr>
              <a:t>Identified who struggles with unnoticed leaks and untracked water habits, and why the problem persists.</a:t>
            </a:r>
            <a:endParaRPr lang="en-US" sz="1080" dirty="0"/>
          </a:p>
        </p:txBody>
      </p:sp>
      <p:sp>
        <p:nvSpPr>
          <p:cNvPr id="9" name="Shape 6"/>
          <p:cNvSpPr/>
          <p:nvPr/>
        </p:nvSpPr>
        <p:spPr>
          <a:xfrm>
            <a:off x="2642616" y="3566160"/>
            <a:ext cx="146304" cy="0"/>
          </a:xfrm>
          <a:prstGeom prst="line">
            <a:avLst/>
          </a:prstGeom>
          <a:noFill/>
          <a:ln w="19050">
            <a:solidFill>
              <a:srgbClr val="1C7293"/>
            </a:solidFill>
            <a:prstDash val="solid"/>
            <a:tailEnd type="triangle"/>
          </a:ln>
        </p:spPr>
      </p:sp>
      <p:sp>
        <p:nvSpPr>
          <p:cNvPr id="10" name="Shape 7"/>
          <p:cNvSpPr/>
          <p:nvPr/>
        </p:nvSpPr>
        <p:spPr>
          <a:xfrm>
            <a:off x="2798064" y="1554480"/>
            <a:ext cx="2084832" cy="4206240"/>
          </a:xfrm>
          <a:prstGeom prst="roundRect">
            <a:avLst>
              <a:gd name="adj" fmla="val 4386"/>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1" name="Shape 8"/>
          <p:cNvSpPr/>
          <p:nvPr/>
        </p:nvSpPr>
        <p:spPr>
          <a:xfrm>
            <a:off x="3566160" y="1810512"/>
            <a:ext cx="548640" cy="548640"/>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3708806" y="1953158"/>
            <a:ext cx="263347" cy="263347"/>
          </a:xfrm>
          <a:prstGeom prst="rect">
            <a:avLst/>
          </a:prstGeom>
        </p:spPr>
      </p:pic>
      <p:sp>
        <p:nvSpPr>
          <p:cNvPr id="13" name="Text 9"/>
          <p:cNvSpPr txBox="1"/>
          <p:nvPr/>
        </p:nvSpPr>
        <p:spPr>
          <a:xfrm>
            <a:off x="2935224" y="2560320"/>
            <a:ext cx="1810512" cy="502920"/>
          </a:xfrm>
          <a:prstGeom prst="rect">
            <a:avLst/>
          </a:prstGeom>
          <a:noFill/>
          <a:ln/>
        </p:spPr>
        <p:txBody>
          <a:bodyPr wrap="square"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2. Define</a:t>
            </a:r>
            <a:endParaRPr lang="en-US" sz="1350" dirty="0"/>
          </a:p>
        </p:txBody>
      </p:sp>
      <p:sp>
        <p:nvSpPr>
          <p:cNvPr id="14" name="Text 10"/>
          <p:cNvSpPr txBox="1"/>
          <p:nvPr/>
        </p:nvSpPr>
        <p:spPr>
          <a:xfrm>
            <a:off x="2962656" y="3063240"/>
            <a:ext cx="1755648" cy="2468880"/>
          </a:xfrm>
          <a:prstGeom prst="rect">
            <a:avLst/>
          </a:prstGeom>
          <a:noFill/>
          <a:ln/>
        </p:spPr>
        <p:txBody>
          <a:bodyPr wrap="square" rtlCol="0" anchor="t"/>
          <a:lstStyle/>
          <a:p>
            <a:pPr marL="0" indent="0" algn="ctr">
              <a:buNone/>
            </a:pPr>
            <a:r>
              <a:rPr lang="en-US" sz="1080" dirty="0">
                <a:solidFill>
                  <a:srgbClr val="1A2733"/>
                </a:solidFill>
                <a:latin typeface="Calibri" pitchFamily="34" charset="0"/>
                <a:ea typeface="Calibri" pitchFamily="34" charset="-122"/>
                <a:cs typeface="Calibri" pitchFamily="34" charset="-120"/>
              </a:rPr>
              <a:t>Wrote a clear problem statement, target users, and the specific gaps existing tools don't cover.</a:t>
            </a:r>
            <a:endParaRPr lang="en-US" sz="1080" dirty="0"/>
          </a:p>
        </p:txBody>
      </p:sp>
      <p:sp>
        <p:nvSpPr>
          <p:cNvPr id="15" name="Shape 11"/>
          <p:cNvSpPr/>
          <p:nvPr/>
        </p:nvSpPr>
        <p:spPr>
          <a:xfrm>
            <a:off x="4892040" y="3566160"/>
            <a:ext cx="146304" cy="0"/>
          </a:xfrm>
          <a:prstGeom prst="line">
            <a:avLst/>
          </a:prstGeom>
          <a:noFill/>
          <a:ln w="19050">
            <a:solidFill>
              <a:srgbClr val="1C7293"/>
            </a:solidFill>
            <a:prstDash val="solid"/>
            <a:tailEnd type="triangle"/>
          </a:ln>
        </p:spPr>
      </p:sp>
      <p:sp>
        <p:nvSpPr>
          <p:cNvPr id="16" name="Shape 12"/>
          <p:cNvSpPr/>
          <p:nvPr/>
        </p:nvSpPr>
        <p:spPr>
          <a:xfrm>
            <a:off x="5047488" y="1554480"/>
            <a:ext cx="2084832" cy="4206240"/>
          </a:xfrm>
          <a:prstGeom prst="roundRect">
            <a:avLst>
              <a:gd name="adj" fmla="val 4386"/>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7" name="Shape 13"/>
          <p:cNvSpPr/>
          <p:nvPr/>
        </p:nvSpPr>
        <p:spPr>
          <a:xfrm>
            <a:off x="5815584" y="1810512"/>
            <a:ext cx="548640" cy="548640"/>
          </a:xfrm>
          <a:prstGeom prst="ellipse">
            <a:avLst/>
          </a:prstGeom>
          <a:solidFill>
            <a:srgbClr val="065A82"/>
          </a:solidFill>
          <a:ln/>
        </p:spPr>
      </p:sp>
      <p:pic>
        <p:nvPicPr>
          <p:cNvPr id="18" name="Image 2" descr="preencoded.png"/>
          <p:cNvPicPr>
            <a:picLocks noChangeAspect="1"/>
          </p:cNvPicPr>
          <p:nvPr/>
        </p:nvPicPr>
        <p:blipFill>
          <a:blip r:embed="rId5"/>
          <a:stretch>
            <a:fillRect/>
          </a:stretch>
        </p:blipFill>
        <p:spPr>
          <a:xfrm>
            <a:off x="5958230" y="1953158"/>
            <a:ext cx="263347" cy="263347"/>
          </a:xfrm>
          <a:prstGeom prst="rect">
            <a:avLst/>
          </a:prstGeom>
        </p:spPr>
      </p:pic>
      <p:sp>
        <p:nvSpPr>
          <p:cNvPr id="19" name="Text 14"/>
          <p:cNvSpPr txBox="1"/>
          <p:nvPr/>
        </p:nvSpPr>
        <p:spPr>
          <a:xfrm>
            <a:off x="5184648" y="2560320"/>
            <a:ext cx="1810512" cy="502920"/>
          </a:xfrm>
          <a:prstGeom prst="rect">
            <a:avLst/>
          </a:prstGeom>
          <a:noFill/>
          <a:ln/>
        </p:spPr>
        <p:txBody>
          <a:bodyPr wrap="square"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3. Ideate</a:t>
            </a:r>
            <a:endParaRPr lang="en-US" sz="1350" dirty="0"/>
          </a:p>
        </p:txBody>
      </p:sp>
      <p:sp>
        <p:nvSpPr>
          <p:cNvPr id="20" name="Text 15"/>
          <p:cNvSpPr txBox="1"/>
          <p:nvPr/>
        </p:nvSpPr>
        <p:spPr>
          <a:xfrm>
            <a:off x="5212080" y="3063240"/>
            <a:ext cx="1755648" cy="2468880"/>
          </a:xfrm>
          <a:prstGeom prst="rect">
            <a:avLst/>
          </a:prstGeom>
          <a:noFill/>
          <a:ln/>
        </p:spPr>
        <p:txBody>
          <a:bodyPr wrap="square" rtlCol="0" anchor="t"/>
          <a:lstStyle/>
          <a:p>
            <a:pPr marL="0" indent="0" algn="ctr">
              <a:buNone/>
            </a:pPr>
            <a:r>
              <a:rPr lang="en-US" sz="1080" dirty="0">
                <a:solidFill>
                  <a:srgbClr val="1A2733"/>
                </a:solidFill>
                <a:latin typeface="Calibri" pitchFamily="34" charset="0"/>
                <a:ea typeface="Calibri" pitchFamily="34" charset="-122"/>
                <a:cs typeface="Calibri" pitchFamily="34" charset="-120"/>
              </a:rPr>
              <a:t>Brainstormed a hybrid design: rule-based leak scoring plus generative AI for personalized guidance.</a:t>
            </a:r>
            <a:endParaRPr lang="en-US" sz="1080" dirty="0"/>
          </a:p>
        </p:txBody>
      </p:sp>
      <p:sp>
        <p:nvSpPr>
          <p:cNvPr id="21" name="Shape 16"/>
          <p:cNvSpPr/>
          <p:nvPr/>
        </p:nvSpPr>
        <p:spPr>
          <a:xfrm>
            <a:off x="7141464" y="3566160"/>
            <a:ext cx="146304" cy="0"/>
          </a:xfrm>
          <a:prstGeom prst="line">
            <a:avLst/>
          </a:prstGeom>
          <a:noFill/>
          <a:ln w="19050">
            <a:solidFill>
              <a:srgbClr val="1C7293"/>
            </a:solidFill>
            <a:prstDash val="solid"/>
            <a:tailEnd type="triangle"/>
          </a:ln>
        </p:spPr>
      </p:sp>
      <p:sp>
        <p:nvSpPr>
          <p:cNvPr id="22" name="Shape 17"/>
          <p:cNvSpPr/>
          <p:nvPr/>
        </p:nvSpPr>
        <p:spPr>
          <a:xfrm>
            <a:off x="7296912" y="1554480"/>
            <a:ext cx="2084832" cy="4206240"/>
          </a:xfrm>
          <a:prstGeom prst="roundRect">
            <a:avLst>
              <a:gd name="adj" fmla="val 4386"/>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23" name="Shape 18"/>
          <p:cNvSpPr/>
          <p:nvPr/>
        </p:nvSpPr>
        <p:spPr>
          <a:xfrm>
            <a:off x="8065008" y="1810512"/>
            <a:ext cx="548640" cy="548640"/>
          </a:xfrm>
          <a:prstGeom prst="ellipse">
            <a:avLst/>
          </a:prstGeom>
          <a:solidFill>
            <a:srgbClr val="065A82"/>
          </a:solidFill>
          <a:ln/>
        </p:spPr>
      </p:sp>
      <p:pic>
        <p:nvPicPr>
          <p:cNvPr id="24" name="Image 3" descr="preencoded.png"/>
          <p:cNvPicPr>
            <a:picLocks noChangeAspect="1"/>
          </p:cNvPicPr>
          <p:nvPr/>
        </p:nvPicPr>
        <p:blipFill>
          <a:blip r:embed="rId6"/>
          <a:stretch>
            <a:fillRect/>
          </a:stretch>
        </p:blipFill>
        <p:spPr>
          <a:xfrm>
            <a:off x="8207654" y="1953158"/>
            <a:ext cx="263347" cy="263347"/>
          </a:xfrm>
          <a:prstGeom prst="rect">
            <a:avLst/>
          </a:prstGeom>
        </p:spPr>
      </p:pic>
      <p:sp>
        <p:nvSpPr>
          <p:cNvPr id="25" name="Text 19"/>
          <p:cNvSpPr txBox="1"/>
          <p:nvPr/>
        </p:nvSpPr>
        <p:spPr>
          <a:xfrm>
            <a:off x="7434072" y="2560320"/>
            <a:ext cx="1810512" cy="502920"/>
          </a:xfrm>
          <a:prstGeom prst="rect">
            <a:avLst/>
          </a:prstGeom>
          <a:noFill/>
          <a:ln/>
        </p:spPr>
        <p:txBody>
          <a:bodyPr wrap="square"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4. Prototype</a:t>
            </a:r>
            <a:endParaRPr lang="en-US" sz="1350" dirty="0"/>
          </a:p>
        </p:txBody>
      </p:sp>
      <p:sp>
        <p:nvSpPr>
          <p:cNvPr id="26" name="Text 20"/>
          <p:cNvSpPr txBox="1"/>
          <p:nvPr/>
        </p:nvSpPr>
        <p:spPr>
          <a:xfrm>
            <a:off x="7461504" y="3063240"/>
            <a:ext cx="1755648" cy="2468880"/>
          </a:xfrm>
          <a:prstGeom prst="rect">
            <a:avLst/>
          </a:prstGeom>
          <a:noFill/>
          <a:ln/>
        </p:spPr>
        <p:txBody>
          <a:bodyPr wrap="square" rtlCol="0" anchor="t"/>
          <a:lstStyle/>
          <a:p>
            <a:pPr marL="0" indent="0" algn="ctr">
              <a:buNone/>
            </a:pPr>
            <a:r>
              <a:rPr lang="en-US" sz="1080" dirty="0">
                <a:solidFill>
                  <a:srgbClr val="1A2733"/>
                </a:solidFill>
                <a:latin typeface="Calibri" pitchFamily="34" charset="0"/>
                <a:ea typeface="Calibri" pitchFamily="34" charset="-122"/>
                <a:cs typeface="Calibri" pitchFamily="34" charset="-120"/>
              </a:rPr>
              <a:t>Built prompt workflows tested on IBM BOB, and a working interactive tool combining logic + live AI calls.</a:t>
            </a:r>
            <a:endParaRPr lang="en-US" sz="1080" dirty="0"/>
          </a:p>
        </p:txBody>
      </p:sp>
      <p:sp>
        <p:nvSpPr>
          <p:cNvPr id="27" name="Shape 21"/>
          <p:cNvSpPr/>
          <p:nvPr/>
        </p:nvSpPr>
        <p:spPr>
          <a:xfrm>
            <a:off x="9390888" y="3566160"/>
            <a:ext cx="146304" cy="0"/>
          </a:xfrm>
          <a:prstGeom prst="line">
            <a:avLst/>
          </a:prstGeom>
          <a:noFill/>
          <a:ln w="19050">
            <a:solidFill>
              <a:srgbClr val="1C7293"/>
            </a:solidFill>
            <a:prstDash val="solid"/>
            <a:tailEnd type="triangle"/>
          </a:ln>
        </p:spPr>
      </p:sp>
      <p:sp>
        <p:nvSpPr>
          <p:cNvPr id="28" name="Shape 22"/>
          <p:cNvSpPr/>
          <p:nvPr/>
        </p:nvSpPr>
        <p:spPr>
          <a:xfrm>
            <a:off x="9546336" y="1554480"/>
            <a:ext cx="2084832" cy="4206240"/>
          </a:xfrm>
          <a:prstGeom prst="roundRect">
            <a:avLst>
              <a:gd name="adj" fmla="val 4386"/>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29" name="Shape 23"/>
          <p:cNvSpPr/>
          <p:nvPr/>
        </p:nvSpPr>
        <p:spPr>
          <a:xfrm>
            <a:off x="10314432" y="1810512"/>
            <a:ext cx="548640" cy="548640"/>
          </a:xfrm>
          <a:prstGeom prst="ellipse">
            <a:avLst/>
          </a:prstGeom>
          <a:solidFill>
            <a:srgbClr val="2C8C6B"/>
          </a:solidFill>
          <a:ln/>
        </p:spPr>
      </p:sp>
      <p:pic>
        <p:nvPicPr>
          <p:cNvPr id="30" name="Image 4" descr="preencoded.png"/>
          <p:cNvPicPr>
            <a:picLocks noChangeAspect="1"/>
          </p:cNvPicPr>
          <p:nvPr/>
        </p:nvPicPr>
        <p:blipFill>
          <a:blip r:embed="rId7"/>
          <a:stretch>
            <a:fillRect/>
          </a:stretch>
        </p:blipFill>
        <p:spPr>
          <a:xfrm>
            <a:off x="10457078" y="1953158"/>
            <a:ext cx="263347" cy="263347"/>
          </a:xfrm>
          <a:prstGeom prst="rect">
            <a:avLst/>
          </a:prstGeom>
        </p:spPr>
      </p:pic>
      <p:sp>
        <p:nvSpPr>
          <p:cNvPr id="31" name="Text 24"/>
          <p:cNvSpPr txBox="1"/>
          <p:nvPr/>
        </p:nvSpPr>
        <p:spPr>
          <a:xfrm>
            <a:off x="9683496" y="2560320"/>
            <a:ext cx="1810512" cy="502920"/>
          </a:xfrm>
          <a:prstGeom prst="rect">
            <a:avLst/>
          </a:prstGeom>
          <a:noFill/>
          <a:ln/>
        </p:spPr>
        <p:txBody>
          <a:bodyPr wrap="square"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5. Test &amp; Refine</a:t>
            </a:r>
            <a:endParaRPr lang="en-US" sz="1350" dirty="0"/>
          </a:p>
        </p:txBody>
      </p:sp>
      <p:sp>
        <p:nvSpPr>
          <p:cNvPr id="32" name="Text 25"/>
          <p:cNvSpPr txBox="1"/>
          <p:nvPr/>
        </p:nvSpPr>
        <p:spPr>
          <a:xfrm>
            <a:off x="9710928" y="3063240"/>
            <a:ext cx="1755648" cy="2468880"/>
          </a:xfrm>
          <a:prstGeom prst="rect">
            <a:avLst/>
          </a:prstGeom>
          <a:noFill/>
          <a:ln/>
        </p:spPr>
        <p:txBody>
          <a:bodyPr wrap="square" rtlCol="0" anchor="t"/>
          <a:lstStyle/>
          <a:p>
            <a:pPr marL="0" indent="0" algn="ctr">
              <a:buNone/>
            </a:pPr>
            <a:r>
              <a:rPr lang="en-US" sz="1080" dirty="0">
                <a:solidFill>
                  <a:srgbClr val="1A2733"/>
                </a:solidFill>
                <a:latin typeface="Calibri" pitchFamily="34" charset="0"/>
                <a:ea typeface="Calibri" pitchFamily="34" charset="-122"/>
                <a:cs typeface="Calibri" pitchFamily="34" charset="-120"/>
              </a:rPr>
              <a:t>Ran the advisor across 4 household scenarios covering the full range of outcomes to validate behavior.</a:t>
            </a:r>
            <a:endParaRPr lang="en-US" sz="1080" dirty="0"/>
          </a:p>
        </p:txBody>
      </p:sp>
      <p:sp>
        <p:nvSpPr>
          <p:cNvPr id="33" name="Text 2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34" name="Text 2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System Flow</a:t>
            </a:r>
            <a:endParaRPr lang="en-US" sz="2800" dirty="0"/>
          </a:p>
        </p:txBody>
      </p:sp>
      <p:sp>
        <p:nvSpPr>
          <p:cNvPr id="3" name="Text 1"/>
          <p:cNvSpPr txBox="1"/>
          <p:nvPr/>
        </p:nvSpPr>
        <p:spPr>
          <a:xfrm>
            <a:off x="548640" y="914400"/>
            <a:ext cx="10058400" cy="365760"/>
          </a:xfrm>
          <a:prstGeom prst="rect">
            <a:avLst/>
          </a:prstGeom>
          <a:noFill/>
          <a:ln/>
        </p:spPr>
        <p:txBody>
          <a:bodyPr wrap="square" rtlCol="0" anchor="ctr"/>
          <a:lstStyle/>
          <a:p>
            <a:pPr marL="0" indent="0">
              <a:buNone/>
            </a:pPr>
            <a:r>
              <a:rPr lang="en-US" sz="1300" i="1" dirty="0">
                <a:solidFill>
                  <a:srgbClr val="5A6B76"/>
                </a:solidFill>
                <a:latin typeface="Calibri" pitchFamily="34" charset="0"/>
                <a:ea typeface="Calibri" pitchFamily="34" charset="-122"/>
                <a:cs typeface="Calibri" pitchFamily="34" charset="-120"/>
              </a:rPr>
              <a:t>How a user's answers travel through the advisor to become personalized guidance.</a:t>
            </a:r>
            <a:endParaRPr lang="en-US" sz="1300" dirty="0"/>
          </a:p>
        </p:txBody>
      </p:sp>
      <p:sp>
        <p:nvSpPr>
          <p:cNvPr id="4" name="Shape 2"/>
          <p:cNvSpPr/>
          <p:nvPr/>
        </p:nvSpPr>
        <p:spPr>
          <a:xfrm>
            <a:off x="777240" y="2377440"/>
            <a:ext cx="2377440" cy="1828800"/>
          </a:xfrm>
          <a:prstGeom prst="roundRect">
            <a:avLst>
              <a:gd name="adj" fmla="val 5000"/>
            </a:avLst>
          </a:prstGeom>
          <a:solidFill>
            <a:srgbClr val="065A82"/>
          </a:solidFill>
          <a:ln/>
        </p:spPr>
      </p:sp>
      <p:sp>
        <p:nvSpPr>
          <p:cNvPr id="5" name="Shape 3"/>
          <p:cNvSpPr/>
          <p:nvPr/>
        </p:nvSpPr>
        <p:spPr>
          <a:xfrm>
            <a:off x="1668780" y="2578608"/>
            <a:ext cx="594360" cy="594360"/>
          </a:xfrm>
          <a:prstGeom prst="ellipse">
            <a:avLst/>
          </a:prstGeom>
          <a:solidFill>
            <a:srgbClr val="21295C"/>
          </a:solidFill>
          <a:ln/>
        </p:spPr>
      </p:sp>
      <p:pic>
        <p:nvPicPr>
          <p:cNvPr id="6" name="Image 0" descr="preencoded.png"/>
          <p:cNvPicPr>
            <a:picLocks noChangeAspect="1"/>
          </p:cNvPicPr>
          <p:nvPr/>
        </p:nvPicPr>
        <p:blipFill>
          <a:blip r:embed="rId3"/>
          <a:stretch>
            <a:fillRect/>
          </a:stretch>
        </p:blipFill>
        <p:spPr>
          <a:xfrm>
            <a:off x="1823314" y="2733142"/>
            <a:ext cx="285293" cy="285293"/>
          </a:xfrm>
          <a:prstGeom prst="rect">
            <a:avLst/>
          </a:prstGeom>
        </p:spPr>
      </p:pic>
      <p:sp>
        <p:nvSpPr>
          <p:cNvPr id="7" name="Text 4"/>
          <p:cNvSpPr txBox="1"/>
          <p:nvPr/>
        </p:nvSpPr>
        <p:spPr>
          <a:xfrm>
            <a:off x="868680" y="3291840"/>
            <a:ext cx="2194560" cy="36576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User Input</a:t>
            </a:r>
            <a:endParaRPr lang="en-US" sz="1350" dirty="0"/>
          </a:p>
        </p:txBody>
      </p:sp>
      <p:sp>
        <p:nvSpPr>
          <p:cNvPr id="8" name="Text 5"/>
          <p:cNvSpPr txBox="1"/>
          <p:nvPr/>
        </p:nvSpPr>
        <p:spPr>
          <a:xfrm>
            <a:off x="886968" y="3657600"/>
            <a:ext cx="2157984" cy="502920"/>
          </a:xfrm>
          <a:prstGeom prst="rect">
            <a:avLst/>
          </a:prstGeom>
          <a:noFill/>
          <a:ln/>
        </p:spPr>
        <p:txBody>
          <a:bodyPr wrap="square" rtlCol="0" anchor="t"/>
          <a:lstStyle/>
          <a:p>
            <a:pPr marL="0" indent="0" algn="ctr">
              <a:buNone/>
            </a:pPr>
            <a:r>
              <a:rPr lang="en-US" sz="1000" dirty="0">
                <a:solidFill>
                  <a:srgbClr val="E6F1F7"/>
                </a:solidFill>
                <a:latin typeface="Calibri" pitchFamily="34" charset="0"/>
                <a:ea typeface="Calibri" pitchFamily="34" charset="-122"/>
                <a:cs typeface="Calibri" pitchFamily="34" charset="-120"/>
              </a:rPr>
              <a:t>4 leak questions or daily habit details</a:t>
            </a:r>
            <a:endParaRPr lang="en-US" sz="1000" dirty="0"/>
          </a:p>
        </p:txBody>
      </p:sp>
      <p:sp>
        <p:nvSpPr>
          <p:cNvPr id="9" name="Shape 6"/>
          <p:cNvSpPr/>
          <p:nvPr/>
        </p:nvSpPr>
        <p:spPr>
          <a:xfrm>
            <a:off x="3200400" y="3291840"/>
            <a:ext cx="411480" cy="0"/>
          </a:xfrm>
          <a:prstGeom prst="line">
            <a:avLst/>
          </a:prstGeom>
          <a:noFill/>
          <a:ln w="25400">
            <a:solidFill>
              <a:srgbClr val="21295C"/>
            </a:solidFill>
            <a:prstDash val="solid"/>
            <a:tailEnd type="triangle"/>
          </a:ln>
        </p:spPr>
      </p:sp>
      <p:sp>
        <p:nvSpPr>
          <p:cNvPr id="10" name="Shape 7"/>
          <p:cNvSpPr/>
          <p:nvPr/>
        </p:nvSpPr>
        <p:spPr>
          <a:xfrm>
            <a:off x="3657600" y="2377440"/>
            <a:ext cx="2377440" cy="1828800"/>
          </a:xfrm>
          <a:prstGeom prst="roundRect">
            <a:avLst>
              <a:gd name="adj" fmla="val 5000"/>
            </a:avLst>
          </a:prstGeom>
          <a:solidFill>
            <a:srgbClr val="1C7293"/>
          </a:solidFill>
          <a:ln/>
        </p:spPr>
      </p:sp>
      <p:sp>
        <p:nvSpPr>
          <p:cNvPr id="11" name="Shape 8"/>
          <p:cNvSpPr/>
          <p:nvPr/>
        </p:nvSpPr>
        <p:spPr>
          <a:xfrm>
            <a:off x="4549140" y="2578608"/>
            <a:ext cx="594360" cy="594360"/>
          </a:xfrm>
          <a:prstGeom prst="ellipse">
            <a:avLst/>
          </a:prstGeom>
          <a:solidFill>
            <a:srgbClr val="21295C"/>
          </a:solidFill>
          <a:ln/>
        </p:spPr>
      </p:sp>
      <p:pic>
        <p:nvPicPr>
          <p:cNvPr id="12" name="Image 1" descr="preencoded.png"/>
          <p:cNvPicPr>
            <a:picLocks noChangeAspect="1"/>
          </p:cNvPicPr>
          <p:nvPr/>
        </p:nvPicPr>
        <p:blipFill>
          <a:blip r:embed="rId4"/>
          <a:stretch>
            <a:fillRect/>
          </a:stretch>
        </p:blipFill>
        <p:spPr>
          <a:xfrm>
            <a:off x="4703674" y="2733142"/>
            <a:ext cx="285293" cy="285293"/>
          </a:xfrm>
          <a:prstGeom prst="rect">
            <a:avLst/>
          </a:prstGeom>
        </p:spPr>
      </p:pic>
      <p:sp>
        <p:nvSpPr>
          <p:cNvPr id="13" name="Text 9"/>
          <p:cNvSpPr txBox="1"/>
          <p:nvPr/>
        </p:nvSpPr>
        <p:spPr>
          <a:xfrm>
            <a:off x="3749040" y="3291840"/>
            <a:ext cx="2194560" cy="36576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Rule Engine</a:t>
            </a:r>
            <a:endParaRPr lang="en-US" sz="1350" dirty="0"/>
          </a:p>
        </p:txBody>
      </p:sp>
      <p:sp>
        <p:nvSpPr>
          <p:cNvPr id="14" name="Text 10"/>
          <p:cNvSpPr txBox="1"/>
          <p:nvPr/>
        </p:nvSpPr>
        <p:spPr>
          <a:xfrm>
            <a:off x="3767328" y="3657600"/>
            <a:ext cx="2157984" cy="502920"/>
          </a:xfrm>
          <a:prstGeom prst="rect">
            <a:avLst/>
          </a:prstGeom>
          <a:noFill/>
          <a:ln/>
        </p:spPr>
        <p:txBody>
          <a:bodyPr wrap="square" rtlCol="0" anchor="t"/>
          <a:lstStyle/>
          <a:p>
            <a:pPr marL="0" indent="0" algn="ctr">
              <a:buNone/>
            </a:pPr>
            <a:r>
              <a:rPr lang="en-US" sz="1000" dirty="0">
                <a:solidFill>
                  <a:srgbClr val="E6F1F7"/>
                </a:solidFill>
                <a:latin typeface="Calibri" pitchFamily="34" charset="0"/>
                <a:ea typeface="Calibri" pitchFamily="34" charset="-122"/>
                <a:cs typeface="Calibri" pitchFamily="34" charset="-120"/>
              </a:rPr>
              <a:t>Scores answers / calculates usage benchmarks</a:t>
            </a:r>
            <a:endParaRPr lang="en-US" sz="1000" dirty="0"/>
          </a:p>
        </p:txBody>
      </p:sp>
      <p:sp>
        <p:nvSpPr>
          <p:cNvPr id="15" name="Shape 11"/>
          <p:cNvSpPr/>
          <p:nvPr/>
        </p:nvSpPr>
        <p:spPr>
          <a:xfrm>
            <a:off x="6080760" y="3291840"/>
            <a:ext cx="411480" cy="0"/>
          </a:xfrm>
          <a:prstGeom prst="line">
            <a:avLst/>
          </a:prstGeom>
          <a:noFill/>
          <a:ln w="25400">
            <a:solidFill>
              <a:srgbClr val="21295C"/>
            </a:solidFill>
            <a:prstDash val="solid"/>
            <a:tailEnd type="triangle"/>
          </a:ln>
        </p:spPr>
      </p:sp>
      <p:sp>
        <p:nvSpPr>
          <p:cNvPr id="16" name="Shape 12"/>
          <p:cNvSpPr/>
          <p:nvPr/>
        </p:nvSpPr>
        <p:spPr>
          <a:xfrm>
            <a:off x="6537960" y="2377440"/>
            <a:ext cx="2377440" cy="1828800"/>
          </a:xfrm>
          <a:prstGeom prst="roundRect">
            <a:avLst>
              <a:gd name="adj" fmla="val 5000"/>
            </a:avLst>
          </a:prstGeom>
          <a:solidFill>
            <a:srgbClr val="065A82"/>
          </a:solidFill>
          <a:ln/>
        </p:spPr>
      </p:sp>
      <p:sp>
        <p:nvSpPr>
          <p:cNvPr id="17" name="Shape 13"/>
          <p:cNvSpPr/>
          <p:nvPr/>
        </p:nvSpPr>
        <p:spPr>
          <a:xfrm>
            <a:off x="7429500" y="2578608"/>
            <a:ext cx="594360" cy="594360"/>
          </a:xfrm>
          <a:prstGeom prst="ellipse">
            <a:avLst/>
          </a:prstGeom>
          <a:solidFill>
            <a:srgbClr val="21295C"/>
          </a:solidFill>
          <a:ln/>
        </p:spPr>
      </p:sp>
      <p:pic>
        <p:nvPicPr>
          <p:cNvPr id="18" name="Image 2" descr="preencoded.png"/>
          <p:cNvPicPr>
            <a:picLocks noChangeAspect="1"/>
          </p:cNvPicPr>
          <p:nvPr/>
        </p:nvPicPr>
        <p:blipFill>
          <a:blip r:embed="rId5"/>
          <a:stretch>
            <a:fillRect/>
          </a:stretch>
        </p:blipFill>
        <p:spPr>
          <a:xfrm>
            <a:off x="7584034" y="2733142"/>
            <a:ext cx="285293" cy="285293"/>
          </a:xfrm>
          <a:prstGeom prst="rect">
            <a:avLst/>
          </a:prstGeom>
        </p:spPr>
      </p:pic>
      <p:sp>
        <p:nvSpPr>
          <p:cNvPr id="19" name="Text 14"/>
          <p:cNvSpPr txBox="1"/>
          <p:nvPr/>
        </p:nvSpPr>
        <p:spPr>
          <a:xfrm>
            <a:off x="6629400" y="3291840"/>
            <a:ext cx="2194560" cy="36576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AI Layer</a:t>
            </a:r>
            <a:endParaRPr lang="en-US" sz="1350" dirty="0"/>
          </a:p>
        </p:txBody>
      </p:sp>
      <p:sp>
        <p:nvSpPr>
          <p:cNvPr id="20" name="Text 15"/>
          <p:cNvSpPr txBox="1"/>
          <p:nvPr/>
        </p:nvSpPr>
        <p:spPr>
          <a:xfrm>
            <a:off x="6647688" y="3657600"/>
            <a:ext cx="2157984" cy="502920"/>
          </a:xfrm>
          <a:prstGeom prst="rect">
            <a:avLst/>
          </a:prstGeom>
          <a:noFill/>
          <a:ln/>
        </p:spPr>
        <p:txBody>
          <a:bodyPr wrap="square" rtlCol="0" anchor="t"/>
          <a:lstStyle/>
          <a:p>
            <a:pPr marL="0" indent="0" algn="ctr">
              <a:buNone/>
            </a:pPr>
            <a:r>
              <a:rPr lang="en-US" sz="1000" dirty="0">
                <a:solidFill>
                  <a:srgbClr val="E6F1F7"/>
                </a:solidFill>
                <a:latin typeface="Calibri" pitchFamily="34" charset="0"/>
                <a:ea typeface="Calibri" pitchFamily="34" charset="-122"/>
                <a:cs typeface="Calibri" pitchFamily="34" charset="-120"/>
              </a:rPr>
              <a:t>Generates plain-language explanation &amp; tips</a:t>
            </a:r>
            <a:endParaRPr lang="en-US" sz="1000" dirty="0"/>
          </a:p>
        </p:txBody>
      </p:sp>
      <p:sp>
        <p:nvSpPr>
          <p:cNvPr id="21" name="Shape 16"/>
          <p:cNvSpPr/>
          <p:nvPr/>
        </p:nvSpPr>
        <p:spPr>
          <a:xfrm>
            <a:off x="8961120" y="3291840"/>
            <a:ext cx="411480" cy="0"/>
          </a:xfrm>
          <a:prstGeom prst="line">
            <a:avLst/>
          </a:prstGeom>
          <a:noFill/>
          <a:ln w="25400">
            <a:solidFill>
              <a:srgbClr val="21295C"/>
            </a:solidFill>
            <a:prstDash val="solid"/>
            <a:tailEnd type="triangle"/>
          </a:ln>
        </p:spPr>
      </p:sp>
      <p:sp>
        <p:nvSpPr>
          <p:cNvPr id="22" name="Shape 17"/>
          <p:cNvSpPr/>
          <p:nvPr/>
        </p:nvSpPr>
        <p:spPr>
          <a:xfrm>
            <a:off x="9418320" y="2377440"/>
            <a:ext cx="2377440" cy="1828800"/>
          </a:xfrm>
          <a:prstGeom prst="roundRect">
            <a:avLst>
              <a:gd name="adj" fmla="val 5000"/>
            </a:avLst>
          </a:prstGeom>
          <a:solidFill>
            <a:srgbClr val="1C7293"/>
          </a:solidFill>
          <a:ln/>
        </p:spPr>
      </p:sp>
      <p:sp>
        <p:nvSpPr>
          <p:cNvPr id="23" name="Shape 18"/>
          <p:cNvSpPr/>
          <p:nvPr/>
        </p:nvSpPr>
        <p:spPr>
          <a:xfrm>
            <a:off x="10309860" y="2578608"/>
            <a:ext cx="594360" cy="594360"/>
          </a:xfrm>
          <a:prstGeom prst="ellipse">
            <a:avLst/>
          </a:prstGeom>
          <a:solidFill>
            <a:srgbClr val="21295C"/>
          </a:solidFill>
          <a:ln/>
        </p:spPr>
      </p:sp>
      <p:pic>
        <p:nvPicPr>
          <p:cNvPr id="24" name="Image 3" descr="preencoded.png"/>
          <p:cNvPicPr>
            <a:picLocks noChangeAspect="1"/>
          </p:cNvPicPr>
          <p:nvPr/>
        </p:nvPicPr>
        <p:blipFill>
          <a:blip r:embed="rId6"/>
          <a:stretch>
            <a:fillRect/>
          </a:stretch>
        </p:blipFill>
        <p:spPr>
          <a:xfrm>
            <a:off x="10464394" y="2733142"/>
            <a:ext cx="285293" cy="285293"/>
          </a:xfrm>
          <a:prstGeom prst="rect">
            <a:avLst/>
          </a:prstGeom>
        </p:spPr>
      </p:pic>
      <p:sp>
        <p:nvSpPr>
          <p:cNvPr id="25" name="Text 19"/>
          <p:cNvSpPr txBox="1"/>
          <p:nvPr/>
        </p:nvSpPr>
        <p:spPr>
          <a:xfrm>
            <a:off x="9509760" y="3291840"/>
            <a:ext cx="2194560" cy="36576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Output</a:t>
            </a:r>
            <a:endParaRPr lang="en-US" sz="1350" dirty="0"/>
          </a:p>
        </p:txBody>
      </p:sp>
      <p:sp>
        <p:nvSpPr>
          <p:cNvPr id="26" name="Text 20"/>
          <p:cNvSpPr txBox="1"/>
          <p:nvPr/>
        </p:nvSpPr>
        <p:spPr>
          <a:xfrm>
            <a:off x="9528048" y="3657600"/>
            <a:ext cx="2157984" cy="502920"/>
          </a:xfrm>
          <a:prstGeom prst="rect">
            <a:avLst/>
          </a:prstGeom>
          <a:noFill/>
          <a:ln/>
        </p:spPr>
        <p:txBody>
          <a:bodyPr wrap="square" rtlCol="0" anchor="t"/>
          <a:lstStyle/>
          <a:p>
            <a:pPr marL="0" indent="0" algn="ctr">
              <a:buNone/>
            </a:pPr>
            <a:r>
              <a:rPr lang="en-US" sz="1000" dirty="0">
                <a:solidFill>
                  <a:srgbClr val="E6F1F7"/>
                </a:solidFill>
                <a:latin typeface="Calibri" pitchFamily="34" charset="0"/>
                <a:ea typeface="Calibri" pitchFamily="34" charset="-122"/>
                <a:cs typeface="Calibri" pitchFamily="34" charset="-120"/>
              </a:rPr>
              <a:t>Flag + next steps, or savings plan</a:t>
            </a:r>
            <a:endParaRPr lang="en-US" sz="1000" dirty="0"/>
          </a:p>
        </p:txBody>
      </p:sp>
      <p:sp>
        <p:nvSpPr>
          <p:cNvPr id="27" name="Shape 21"/>
          <p:cNvSpPr/>
          <p:nvPr/>
        </p:nvSpPr>
        <p:spPr>
          <a:xfrm>
            <a:off x="548640" y="4663440"/>
            <a:ext cx="11064240" cy="1371600"/>
          </a:xfrm>
          <a:prstGeom prst="roundRect">
            <a:avLst>
              <a:gd name="adj" fmla="val 6667"/>
            </a:avLst>
          </a:prstGeom>
          <a:solidFill>
            <a:srgbClr val="E7F2F7"/>
          </a:solidFill>
          <a:ln/>
        </p:spPr>
      </p:sp>
      <p:sp>
        <p:nvSpPr>
          <p:cNvPr id="28" name="Text 22"/>
          <p:cNvSpPr txBox="1"/>
          <p:nvPr/>
        </p:nvSpPr>
        <p:spPr>
          <a:xfrm>
            <a:off x="868680" y="4663440"/>
            <a:ext cx="10424160" cy="1371600"/>
          </a:xfrm>
          <a:prstGeom prst="rect">
            <a:avLst/>
          </a:prstGeom>
          <a:noFill/>
          <a:ln/>
        </p:spPr>
        <p:txBody>
          <a:bodyPr wrap="square" rtlCol="0" anchor="ctr"/>
          <a:lstStyle/>
          <a:p>
            <a:pPr marL="0" indent="0">
              <a:buNone/>
            </a:pPr>
            <a:r>
              <a:rPr lang="en-US" sz="1300" dirty="0">
                <a:solidFill>
                  <a:srgbClr val="1A2733"/>
                </a:solidFill>
                <a:latin typeface="Calibri" pitchFamily="34" charset="0"/>
                <a:ea typeface="Calibri" pitchFamily="34" charset="-122"/>
                <a:cs typeface="Calibri" pitchFamily="34" charset="-120"/>
              </a:rPr>
              <a:t>The rule engine and AI layer are deliberately separate: the rule engine gives consistent, explainable scoring for leak likelihood, while the AI layer handles the parts that benefit from natural language — explaining results and personalizing tips. This hybrid keeps the system transparent while still feeling like a real conversation.</a:t>
            </a:r>
            <a:endParaRPr lang="en-US" sz="1300" dirty="0"/>
          </a:p>
        </p:txBody>
      </p:sp>
      <p:sp>
        <p:nvSpPr>
          <p:cNvPr id="29" name="Text 2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30"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Working Prototype — Interactive Tool</a:t>
            </a:r>
            <a:endParaRPr lang="en-US" sz="2600" dirty="0"/>
          </a:p>
        </p:txBody>
      </p:sp>
      <p:sp>
        <p:nvSpPr>
          <p:cNvPr id="3" name="Text 1"/>
          <p:cNvSpPr txBox="1"/>
          <p:nvPr/>
        </p:nvSpPr>
        <p:spPr>
          <a:xfrm>
            <a:off x="548640" y="914400"/>
            <a:ext cx="10515600" cy="365760"/>
          </a:xfrm>
          <a:prstGeom prst="rect">
            <a:avLst/>
          </a:prstGeom>
          <a:noFill/>
          <a:ln/>
        </p:spPr>
        <p:txBody>
          <a:bodyPr wrap="square" rtlCol="0" anchor="ctr"/>
          <a:lstStyle/>
          <a:p>
            <a:pPr marL="0" indent="0">
              <a:buNone/>
            </a:pPr>
            <a:r>
              <a:rPr lang="en-US" sz="1250" i="1" dirty="0">
                <a:solidFill>
                  <a:srgbClr val="5A6B76"/>
                </a:solidFill>
                <a:latin typeface="Calibri" pitchFamily="34" charset="0"/>
                <a:ea typeface="Calibri" pitchFamily="34" charset="-122"/>
                <a:cs typeface="Calibri" pitchFamily="34" charset="-120"/>
              </a:rPr>
              <a:t>A live tool combining the rule engine and AI layer — built and tested end-to-end.</a:t>
            </a:r>
            <a:endParaRPr lang="en-US" sz="1250" dirty="0"/>
          </a:p>
        </p:txBody>
      </p:sp>
      <p:sp>
        <p:nvSpPr>
          <p:cNvPr id="4" name="Shape 2"/>
          <p:cNvSpPr/>
          <p:nvPr/>
        </p:nvSpPr>
        <p:spPr>
          <a:xfrm>
            <a:off x="548640" y="1417320"/>
            <a:ext cx="11064240" cy="4480560"/>
          </a:xfrm>
          <a:prstGeom prst="roundRect">
            <a:avLst>
              <a:gd name="adj" fmla="val 2449"/>
            </a:avLst>
          </a:prstGeom>
          <a:solidFill>
            <a:srgbClr val="FBFEFD"/>
          </a:solidFill>
          <a:ln w="19050">
            <a:solidFill>
              <a:srgbClr val="1C7293"/>
            </a:solidFill>
            <a:prstDash val="dash"/>
          </a:ln>
        </p:spPr>
      </p:sp>
      <p:sp>
        <p:nvSpPr>
          <p:cNvPr id="9"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10"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13</a:t>
            </a:r>
            <a:endParaRPr lang="en-US" sz="900" dirty="0"/>
          </a:p>
        </p:txBody>
      </p:sp>
      <p:pic>
        <p:nvPicPr>
          <p:cNvPr id="18" name="Picture 17">
            <a:extLst>
              <a:ext uri="{FF2B5EF4-FFF2-40B4-BE49-F238E27FC236}">
                <a16:creationId xmlns:a16="http://schemas.microsoft.com/office/drawing/2014/main" id="{E89EEDBA-AA7A-E019-A632-45560B2F3DC9}"/>
              </a:ext>
            </a:extLst>
          </p:cNvPr>
          <p:cNvPicPr>
            <a:picLocks noChangeAspect="1"/>
          </p:cNvPicPr>
          <p:nvPr/>
        </p:nvPicPr>
        <p:blipFill>
          <a:blip r:embed="rId3"/>
          <a:stretch>
            <a:fillRect/>
          </a:stretch>
        </p:blipFill>
        <p:spPr>
          <a:xfrm>
            <a:off x="628973" y="1644753"/>
            <a:ext cx="3526040" cy="3345024"/>
          </a:xfrm>
          <a:prstGeom prst="rect">
            <a:avLst/>
          </a:prstGeom>
        </p:spPr>
      </p:pic>
      <p:pic>
        <p:nvPicPr>
          <p:cNvPr id="20" name="Picture 19">
            <a:extLst>
              <a:ext uri="{FF2B5EF4-FFF2-40B4-BE49-F238E27FC236}">
                <a16:creationId xmlns:a16="http://schemas.microsoft.com/office/drawing/2014/main" id="{61769664-8A8A-7325-2CCD-B05424337D29}"/>
              </a:ext>
            </a:extLst>
          </p:cNvPr>
          <p:cNvPicPr>
            <a:picLocks noChangeAspect="1"/>
          </p:cNvPicPr>
          <p:nvPr/>
        </p:nvPicPr>
        <p:blipFill>
          <a:blip r:embed="rId4"/>
          <a:stretch>
            <a:fillRect/>
          </a:stretch>
        </p:blipFill>
        <p:spPr>
          <a:xfrm>
            <a:off x="4235346" y="1644753"/>
            <a:ext cx="3361461" cy="3568493"/>
          </a:xfrm>
          <a:prstGeom prst="rect">
            <a:avLst/>
          </a:prstGeom>
        </p:spPr>
      </p:pic>
      <p:pic>
        <p:nvPicPr>
          <p:cNvPr id="22" name="Picture 21">
            <a:extLst>
              <a:ext uri="{FF2B5EF4-FFF2-40B4-BE49-F238E27FC236}">
                <a16:creationId xmlns:a16="http://schemas.microsoft.com/office/drawing/2014/main" id="{1ACD8E74-9C34-653A-7D0B-359E70CB4929}"/>
              </a:ext>
            </a:extLst>
          </p:cNvPr>
          <p:cNvPicPr>
            <a:picLocks noChangeAspect="1"/>
          </p:cNvPicPr>
          <p:nvPr/>
        </p:nvPicPr>
        <p:blipFill>
          <a:blip r:embed="rId5"/>
          <a:stretch>
            <a:fillRect/>
          </a:stretch>
        </p:blipFill>
        <p:spPr>
          <a:xfrm>
            <a:off x="7726993" y="1644753"/>
            <a:ext cx="3885887" cy="36753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Prototype Evidence — Real AI Conversation</a:t>
            </a:r>
            <a:endParaRPr lang="en-US" sz="2600" dirty="0"/>
          </a:p>
        </p:txBody>
      </p:sp>
      <p:sp>
        <p:nvSpPr>
          <p:cNvPr id="3" name="Text 1"/>
          <p:cNvSpPr txBox="1"/>
          <p:nvPr/>
        </p:nvSpPr>
        <p:spPr>
          <a:xfrm>
            <a:off x="548640" y="914400"/>
            <a:ext cx="10515600" cy="365760"/>
          </a:xfrm>
          <a:prstGeom prst="rect">
            <a:avLst/>
          </a:prstGeom>
          <a:noFill/>
          <a:ln/>
        </p:spPr>
        <p:txBody>
          <a:bodyPr wrap="square" rtlCol="0" anchor="ctr"/>
          <a:lstStyle/>
          <a:p>
            <a:pPr marL="0" indent="0">
              <a:buNone/>
            </a:pPr>
            <a:r>
              <a:rPr lang="en-US" sz="1250" i="1" dirty="0">
                <a:solidFill>
                  <a:srgbClr val="5A6B76"/>
                </a:solidFill>
                <a:latin typeface="Calibri" pitchFamily="34" charset="0"/>
                <a:ea typeface="Calibri" pitchFamily="34" charset="-122"/>
                <a:cs typeface="Calibri" pitchFamily="34" charset="-120"/>
              </a:rPr>
              <a:t>Actual screenshots from running the prompts on IBM BOB (or your chosen AI tool).</a:t>
            </a:r>
            <a:endParaRPr lang="en-US" sz="1250" dirty="0"/>
          </a:p>
        </p:txBody>
      </p:sp>
      <p:sp>
        <p:nvSpPr>
          <p:cNvPr id="4" name="Shape 2"/>
          <p:cNvSpPr/>
          <p:nvPr/>
        </p:nvSpPr>
        <p:spPr>
          <a:xfrm>
            <a:off x="548640" y="1417320"/>
            <a:ext cx="5349240" cy="4480560"/>
          </a:xfrm>
          <a:prstGeom prst="roundRect">
            <a:avLst>
              <a:gd name="adj" fmla="val 2449"/>
            </a:avLst>
          </a:prstGeom>
          <a:solidFill>
            <a:srgbClr val="FBFEFD"/>
          </a:solidFill>
          <a:ln w="19050">
            <a:solidFill>
              <a:srgbClr val="1C7293"/>
            </a:solidFill>
            <a:prstDash val="dash"/>
          </a:ln>
        </p:spPr>
      </p:sp>
      <p:sp>
        <p:nvSpPr>
          <p:cNvPr id="5" name="Shape 3"/>
          <p:cNvSpPr/>
          <p:nvPr/>
        </p:nvSpPr>
        <p:spPr>
          <a:xfrm>
            <a:off x="2926080" y="2377440"/>
            <a:ext cx="822960" cy="822960"/>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3140050" y="2591410"/>
            <a:ext cx="395021" cy="395021"/>
          </a:xfrm>
          <a:prstGeom prst="rect">
            <a:avLst/>
          </a:prstGeom>
        </p:spPr>
      </p:pic>
      <p:sp>
        <p:nvSpPr>
          <p:cNvPr id="7" name="Text 4"/>
          <p:cNvSpPr txBox="1"/>
          <p:nvPr/>
        </p:nvSpPr>
        <p:spPr>
          <a:xfrm>
            <a:off x="822960" y="3429000"/>
            <a:ext cx="4800600" cy="320040"/>
          </a:xfrm>
          <a:prstGeom prst="rect">
            <a:avLst/>
          </a:prstGeom>
          <a:noFill/>
          <a:ln/>
        </p:spPr>
        <p:txBody>
          <a:bodyPr wrap="square" rtlCol="0" anchor="ctr"/>
          <a:lstStyle/>
          <a:p>
            <a:pPr marL="0" indent="0" algn="ctr">
              <a:buNone/>
            </a:pPr>
            <a:r>
              <a:rPr lang="en-US" sz="1300" b="1" dirty="0">
                <a:solidFill>
                  <a:srgbClr val="1C7293"/>
                </a:solidFill>
                <a:latin typeface="Calibri" pitchFamily="34" charset="0"/>
                <a:ea typeface="Calibri" pitchFamily="34" charset="-122"/>
                <a:cs typeface="Calibri" pitchFamily="34" charset="-120"/>
              </a:rPr>
              <a:t>PASTE SCREENSHOT</a:t>
            </a:r>
            <a:endParaRPr lang="en-US" sz="1300" dirty="0"/>
          </a:p>
        </p:txBody>
      </p:sp>
      <p:sp>
        <p:nvSpPr>
          <p:cNvPr id="8" name="Text 5"/>
          <p:cNvSpPr txBox="1"/>
          <p:nvPr/>
        </p:nvSpPr>
        <p:spPr>
          <a:xfrm>
            <a:off x="822960" y="3794760"/>
            <a:ext cx="4800600" cy="365760"/>
          </a:xfrm>
          <a:prstGeom prst="rect">
            <a:avLst/>
          </a:prstGeom>
          <a:noFill/>
          <a:ln/>
        </p:spPr>
        <p:txBody>
          <a:bodyPr wrap="square" rtlCol="0" anchor="ctr"/>
          <a:lstStyle/>
          <a:p>
            <a:pPr marL="0" indent="0" algn="ctr">
              <a:buNone/>
            </a:pPr>
            <a:r>
              <a:rPr lang="en-US" sz="1150" dirty="0">
                <a:solidFill>
                  <a:srgbClr val="5A6B76"/>
                </a:solidFill>
                <a:latin typeface="Calibri" pitchFamily="34" charset="0"/>
                <a:ea typeface="Calibri" pitchFamily="34" charset="-122"/>
                <a:cs typeface="Calibri" pitchFamily="34" charset="-120"/>
              </a:rPr>
              <a:t>Leak Detection Conversation</a:t>
            </a:r>
            <a:endParaRPr lang="en-US" sz="1150" dirty="0"/>
          </a:p>
        </p:txBody>
      </p:sp>
      <p:sp>
        <p:nvSpPr>
          <p:cNvPr id="9" name="Shape 6"/>
          <p:cNvSpPr/>
          <p:nvPr/>
        </p:nvSpPr>
        <p:spPr>
          <a:xfrm>
            <a:off x="6172200" y="1417320"/>
            <a:ext cx="5349240" cy="4480560"/>
          </a:xfrm>
          <a:prstGeom prst="roundRect">
            <a:avLst>
              <a:gd name="adj" fmla="val 2449"/>
            </a:avLst>
          </a:prstGeom>
          <a:solidFill>
            <a:srgbClr val="FBFEFD"/>
          </a:solidFill>
          <a:ln w="19050">
            <a:solidFill>
              <a:srgbClr val="1C7293"/>
            </a:solidFill>
            <a:prstDash val="dash"/>
          </a:ln>
        </p:spPr>
      </p:sp>
      <p:sp>
        <p:nvSpPr>
          <p:cNvPr id="10" name="Shape 7"/>
          <p:cNvSpPr/>
          <p:nvPr/>
        </p:nvSpPr>
        <p:spPr>
          <a:xfrm>
            <a:off x="8549640" y="2377440"/>
            <a:ext cx="822960" cy="822960"/>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763610" y="2591410"/>
            <a:ext cx="395021" cy="395021"/>
          </a:xfrm>
          <a:prstGeom prst="rect">
            <a:avLst/>
          </a:prstGeom>
        </p:spPr>
      </p:pic>
      <p:sp>
        <p:nvSpPr>
          <p:cNvPr id="12" name="Text 8"/>
          <p:cNvSpPr txBox="1"/>
          <p:nvPr/>
        </p:nvSpPr>
        <p:spPr>
          <a:xfrm>
            <a:off x="6446520" y="3429000"/>
            <a:ext cx="4800600" cy="320040"/>
          </a:xfrm>
          <a:prstGeom prst="rect">
            <a:avLst/>
          </a:prstGeom>
          <a:noFill/>
          <a:ln/>
        </p:spPr>
        <p:txBody>
          <a:bodyPr wrap="square" rtlCol="0" anchor="ctr"/>
          <a:lstStyle/>
          <a:p>
            <a:pPr marL="0" indent="0" algn="ctr">
              <a:buNone/>
            </a:pPr>
            <a:r>
              <a:rPr lang="en-US" sz="1300" b="1" dirty="0">
                <a:solidFill>
                  <a:srgbClr val="1C7293"/>
                </a:solidFill>
                <a:latin typeface="Calibri" pitchFamily="34" charset="0"/>
                <a:ea typeface="Calibri" pitchFamily="34" charset="-122"/>
                <a:cs typeface="Calibri" pitchFamily="34" charset="-120"/>
              </a:rPr>
              <a:t>PASTE SCREENSHOT</a:t>
            </a:r>
            <a:endParaRPr lang="en-US" sz="1300" dirty="0"/>
          </a:p>
        </p:txBody>
      </p:sp>
      <p:sp>
        <p:nvSpPr>
          <p:cNvPr id="13" name="Text 9"/>
          <p:cNvSpPr txBox="1"/>
          <p:nvPr/>
        </p:nvSpPr>
        <p:spPr>
          <a:xfrm>
            <a:off x="6446520" y="3794760"/>
            <a:ext cx="4800600" cy="365760"/>
          </a:xfrm>
          <a:prstGeom prst="rect">
            <a:avLst/>
          </a:prstGeom>
          <a:noFill/>
          <a:ln/>
        </p:spPr>
        <p:txBody>
          <a:bodyPr wrap="square" rtlCol="0" anchor="ctr"/>
          <a:lstStyle/>
          <a:p>
            <a:pPr marL="0" indent="0" algn="ctr">
              <a:buNone/>
            </a:pPr>
            <a:r>
              <a:rPr lang="en-US" sz="1150" dirty="0">
                <a:solidFill>
                  <a:srgbClr val="5A6B76"/>
                </a:solidFill>
                <a:latin typeface="Calibri" pitchFamily="34" charset="0"/>
                <a:ea typeface="Calibri" pitchFamily="34" charset="-122"/>
                <a:cs typeface="Calibri" pitchFamily="34" charset="-120"/>
              </a:rPr>
              <a:t>Habit Advisory Conversation</a:t>
            </a:r>
            <a:endParaRPr lang="en-US" sz="1150" dirty="0"/>
          </a:p>
        </p:txBody>
      </p:sp>
      <p:sp>
        <p:nvSpPr>
          <p:cNvPr id="14" name="Text 10"/>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15"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14</a:t>
            </a:r>
            <a:endParaRPr lang="en-US" sz="900" dirty="0"/>
          </a:p>
        </p:txBody>
      </p:sp>
      <p:pic>
        <p:nvPicPr>
          <p:cNvPr id="17" name="Picture 16">
            <a:extLst>
              <a:ext uri="{FF2B5EF4-FFF2-40B4-BE49-F238E27FC236}">
                <a16:creationId xmlns:a16="http://schemas.microsoft.com/office/drawing/2014/main" id="{CA003C34-FBE2-49C7-8915-1FF2C1BE093D}"/>
              </a:ext>
            </a:extLst>
          </p:cNvPr>
          <p:cNvPicPr>
            <a:picLocks noChangeAspect="1"/>
          </p:cNvPicPr>
          <p:nvPr/>
        </p:nvPicPr>
        <p:blipFill>
          <a:blip r:embed="rId4"/>
          <a:stretch>
            <a:fillRect/>
          </a:stretch>
        </p:blipFill>
        <p:spPr>
          <a:xfrm>
            <a:off x="585805" y="2224884"/>
            <a:ext cx="5274909" cy="2408231"/>
          </a:xfrm>
          <a:prstGeom prst="rect">
            <a:avLst/>
          </a:prstGeom>
        </p:spPr>
      </p:pic>
      <p:pic>
        <p:nvPicPr>
          <p:cNvPr id="19" name="Picture 18">
            <a:extLst>
              <a:ext uri="{FF2B5EF4-FFF2-40B4-BE49-F238E27FC236}">
                <a16:creationId xmlns:a16="http://schemas.microsoft.com/office/drawing/2014/main" id="{0F11694C-A964-ECC2-FB94-EC8FB5A42776}"/>
              </a:ext>
            </a:extLst>
          </p:cNvPr>
          <p:cNvPicPr>
            <a:picLocks noChangeAspect="1"/>
          </p:cNvPicPr>
          <p:nvPr/>
        </p:nvPicPr>
        <p:blipFill>
          <a:blip r:embed="rId5"/>
          <a:stretch>
            <a:fillRect/>
          </a:stretch>
        </p:blipFill>
        <p:spPr>
          <a:xfrm>
            <a:off x="6537305" y="1551960"/>
            <a:ext cx="4553164" cy="2953793"/>
          </a:xfrm>
          <a:prstGeom prst="rect">
            <a:avLst/>
          </a:prstGeom>
        </p:spPr>
      </p:pic>
      <p:pic>
        <p:nvPicPr>
          <p:cNvPr id="21" name="Picture 20">
            <a:extLst>
              <a:ext uri="{FF2B5EF4-FFF2-40B4-BE49-F238E27FC236}">
                <a16:creationId xmlns:a16="http://schemas.microsoft.com/office/drawing/2014/main" id="{C5B507CF-A822-28A9-D7DC-646024DDF434}"/>
              </a:ext>
            </a:extLst>
          </p:cNvPr>
          <p:cNvPicPr>
            <a:picLocks noChangeAspect="1"/>
          </p:cNvPicPr>
          <p:nvPr/>
        </p:nvPicPr>
        <p:blipFill>
          <a:blip r:embed="rId6"/>
          <a:stretch>
            <a:fillRect/>
          </a:stretch>
        </p:blipFill>
        <p:spPr>
          <a:xfrm>
            <a:off x="6537304" y="4505753"/>
            <a:ext cx="4553165" cy="13061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Case Deep-Dive — Household D</a:t>
            </a:r>
            <a:endParaRPr lang="en-US" sz="2800" dirty="0"/>
          </a:p>
        </p:txBody>
      </p:sp>
      <p:sp>
        <p:nvSpPr>
          <p:cNvPr id="3" name="Text 1"/>
          <p:cNvSpPr txBox="1"/>
          <p:nvPr/>
        </p:nvSpPr>
        <p:spPr>
          <a:xfrm>
            <a:off x="548640" y="914400"/>
            <a:ext cx="10058400" cy="365760"/>
          </a:xfrm>
          <a:prstGeom prst="rect">
            <a:avLst/>
          </a:prstGeom>
          <a:noFill/>
          <a:ln/>
        </p:spPr>
        <p:txBody>
          <a:bodyPr wrap="square" rtlCol="0" anchor="ctr"/>
          <a:lstStyle/>
          <a:p>
            <a:pPr marL="0" indent="0">
              <a:buNone/>
            </a:pPr>
            <a:r>
              <a:rPr lang="en-US" sz="1300" i="1" dirty="0">
                <a:solidFill>
                  <a:srgbClr val="5A6B76"/>
                </a:solidFill>
                <a:latin typeface="Calibri" pitchFamily="34" charset="0"/>
                <a:ea typeface="Calibri" pitchFamily="34" charset="-122"/>
                <a:cs typeface="Calibri" pitchFamily="34" charset="-120"/>
              </a:rPr>
              <a:t>Multiple warning signs, showing how the advisor handles an urgent case.</a:t>
            </a:r>
            <a:endParaRPr lang="en-US" sz="1300" dirty="0"/>
          </a:p>
        </p:txBody>
      </p:sp>
      <p:sp>
        <p:nvSpPr>
          <p:cNvPr id="4" name="Shape 2"/>
          <p:cNvSpPr/>
          <p:nvPr/>
        </p:nvSpPr>
        <p:spPr>
          <a:xfrm>
            <a:off x="548640" y="1417320"/>
            <a:ext cx="5303520" cy="4480560"/>
          </a:xfrm>
          <a:prstGeom prst="roundRect">
            <a:avLst>
              <a:gd name="adj" fmla="val 2449"/>
            </a:avLst>
          </a:prstGeom>
          <a:solidFill>
            <a:srgbClr val="21295C"/>
          </a:solidFill>
          <a:ln/>
        </p:spPr>
      </p:sp>
      <p:sp>
        <p:nvSpPr>
          <p:cNvPr id="5" name="Text 3"/>
          <p:cNvSpPr txBox="1"/>
          <p:nvPr/>
        </p:nvSpPr>
        <p:spPr>
          <a:xfrm>
            <a:off x="868680" y="1645920"/>
            <a:ext cx="3657600" cy="320040"/>
          </a:xfrm>
          <a:prstGeom prst="rect">
            <a:avLst/>
          </a:prstGeom>
          <a:noFill/>
          <a:ln/>
        </p:spPr>
        <p:txBody>
          <a:bodyPr wrap="square" rtlCol="0" anchor="ctr"/>
          <a:lstStyle/>
          <a:p>
            <a:pPr marL="0" indent="0">
              <a:buNone/>
            </a:pPr>
            <a:r>
              <a:rPr lang="en-US" sz="1200" b="1" dirty="0">
                <a:solidFill>
                  <a:srgbClr val="9FD3E8"/>
                </a:solidFill>
                <a:latin typeface="Calibri" pitchFamily="34" charset="0"/>
                <a:ea typeface="Calibri" pitchFamily="34" charset="-122"/>
                <a:cs typeface="Calibri" pitchFamily="34" charset="-120"/>
              </a:rPr>
              <a:t>INPUT SIGNALS</a:t>
            </a:r>
            <a:endParaRPr lang="en-US" sz="1200" dirty="0"/>
          </a:p>
        </p:txBody>
      </p:sp>
      <p:sp>
        <p:nvSpPr>
          <p:cNvPr id="6" name="Text 4"/>
          <p:cNvSpPr txBox="1"/>
          <p:nvPr/>
        </p:nvSpPr>
        <p:spPr>
          <a:xfrm>
            <a:off x="868680" y="2103120"/>
            <a:ext cx="4663440" cy="1645920"/>
          </a:xfrm>
          <a:prstGeom prst="rect">
            <a:avLst/>
          </a:prstGeom>
          <a:noFill/>
          <a:ln/>
        </p:spPr>
        <p:txBody>
          <a:bodyPr wrap="square" rtlCol="0" anchor="t"/>
          <a:lstStyle/>
          <a:p>
            <a:pPr marL="342900" indent="-342900">
              <a:spcAft>
                <a:spcPts val="1200"/>
              </a:spcAft>
              <a:buSzPct val="100000"/>
              <a:buChar char="•"/>
            </a:pPr>
            <a:r>
              <a:rPr lang="en-US" sz="1350" dirty="0">
                <a:solidFill>
                  <a:srgbClr val="E6F1F7"/>
                </a:solidFill>
                <a:latin typeface="Calibri" pitchFamily="34" charset="0"/>
                <a:ea typeface="Calibri" pitchFamily="34" charset="-122"/>
                <a:cs typeface="Calibri" pitchFamily="34" charset="-120"/>
              </a:rPr>
              <a:t>Meter moves with taps off: Yes</a:t>
            </a:r>
            <a:endParaRPr lang="en-US" sz="1350" dirty="0"/>
          </a:p>
          <a:p>
            <a:pPr marL="342900" indent="-342900">
              <a:spcAft>
                <a:spcPts val="1200"/>
              </a:spcAft>
              <a:buSzPct val="100000"/>
              <a:buChar char="•"/>
            </a:pPr>
            <a:r>
              <a:rPr lang="en-US" sz="1350" dirty="0">
                <a:solidFill>
                  <a:srgbClr val="E6F1F7"/>
                </a:solidFill>
                <a:latin typeface="Calibri" pitchFamily="34" charset="0"/>
                <a:ea typeface="Calibri" pitchFamily="34" charset="-122"/>
                <a:cs typeface="Calibri" pitchFamily="34" charset="-120"/>
              </a:rPr>
              <a:t>Unexplained bill spike: Yes</a:t>
            </a:r>
            <a:endParaRPr lang="en-US" sz="1350" dirty="0"/>
          </a:p>
          <a:p>
            <a:pPr marL="342900" indent="-342900">
              <a:spcAft>
                <a:spcPts val="1200"/>
              </a:spcAft>
              <a:buSzPct val="100000"/>
              <a:buChar char="•"/>
            </a:pPr>
            <a:r>
              <a:rPr lang="en-US" sz="1350" dirty="0">
                <a:solidFill>
                  <a:srgbClr val="E6F1F7"/>
                </a:solidFill>
                <a:latin typeface="Calibri" pitchFamily="34" charset="0"/>
                <a:ea typeface="Calibri" pitchFamily="34" charset="-122"/>
                <a:cs typeface="Calibri" pitchFamily="34" charset="-120"/>
              </a:rPr>
              <a:t>Damp patches near pipes: Yes</a:t>
            </a:r>
            <a:endParaRPr lang="en-US" sz="1350" dirty="0"/>
          </a:p>
          <a:p>
            <a:pPr marL="342900" indent="-342900">
              <a:spcAft>
                <a:spcPts val="1200"/>
              </a:spcAft>
              <a:buSzPct val="100000"/>
              <a:buChar char="•"/>
            </a:pPr>
            <a:r>
              <a:rPr lang="en-US" sz="1350" dirty="0">
                <a:solidFill>
                  <a:srgbClr val="E6F1F7"/>
                </a:solidFill>
                <a:latin typeface="Calibri" pitchFamily="34" charset="0"/>
                <a:ea typeface="Calibri" pitchFamily="34" charset="-122"/>
                <a:cs typeface="Calibri" pitchFamily="34" charset="-120"/>
              </a:rPr>
              <a:t>Cistern refilling on its own: Yes</a:t>
            </a:r>
            <a:endParaRPr lang="en-US" sz="1350" dirty="0"/>
          </a:p>
        </p:txBody>
      </p:sp>
      <p:sp>
        <p:nvSpPr>
          <p:cNvPr id="7" name="Shape 5"/>
          <p:cNvSpPr/>
          <p:nvPr/>
        </p:nvSpPr>
        <p:spPr>
          <a:xfrm>
            <a:off x="868680" y="4023360"/>
            <a:ext cx="4114800" cy="548640"/>
          </a:xfrm>
          <a:prstGeom prst="roundRect">
            <a:avLst>
              <a:gd name="adj" fmla="val 13333"/>
            </a:avLst>
          </a:prstGeom>
          <a:solidFill>
            <a:srgbClr val="B8452F"/>
          </a:solidFill>
          <a:ln/>
        </p:spPr>
      </p:sp>
      <p:sp>
        <p:nvSpPr>
          <p:cNvPr id="8" name="Text 6"/>
          <p:cNvSpPr txBox="1"/>
          <p:nvPr/>
        </p:nvSpPr>
        <p:spPr>
          <a:xfrm>
            <a:off x="868680" y="4023360"/>
            <a:ext cx="411480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Likely Major Leak — Urgent</a:t>
            </a:r>
            <a:endParaRPr lang="en-US" sz="1400" dirty="0"/>
          </a:p>
        </p:txBody>
      </p:sp>
      <p:sp>
        <p:nvSpPr>
          <p:cNvPr id="9" name="Shape 7"/>
          <p:cNvSpPr/>
          <p:nvPr/>
        </p:nvSpPr>
        <p:spPr>
          <a:xfrm>
            <a:off x="6126480" y="1417320"/>
            <a:ext cx="5486400" cy="4480560"/>
          </a:xfrm>
          <a:prstGeom prst="roundRect">
            <a:avLst>
              <a:gd name="adj" fmla="val 2449"/>
            </a:avLst>
          </a:prstGeom>
          <a:solidFill>
            <a:srgbClr val="FFFFFF"/>
          </a:solidFill>
          <a:ln w="12700">
            <a:solidFill>
              <a:srgbClr val="DCE6EA"/>
            </a:solidFill>
            <a:prstDash val="solid"/>
          </a:ln>
        </p:spPr>
      </p:sp>
      <p:sp>
        <p:nvSpPr>
          <p:cNvPr id="10" name="Text 8"/>
          <p:cNvSpPr txBox="1"/>
          <p:nvPr/>
        </p:nvSpPr>
        <p:spPr>
          <a:xfrm>
            <a:off x="6446520" y="1645920"/>
            <a:ext cx="365760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WHY THIS MATTERS</a:t>
            </a:r>
            <a:endParaRPr lang="en-US" sz="1200" dirty="0"/>
          </a:p>
        </p:txBody>
      </p:sp>
      <p:sp>
        <p:nvSpPr>
          <p:cNvPr id="11" name="Text 9"/>
          <p:cNvSpPr txBox="1"/>
          <p:nvPr/>
        </p:nvSpPr>
        <p:spPr>
          <a:xfrm>
            <a:off x="6446520" y="2057400"/>
            <a:ext cx="4846320" cy="1188720"/>
          </a:xfrm>
          <a:prstGeom prst="rect">
            <a:avLst/>
          </a:prstGeom>
          <a:noFill/>
          <a:ln/>
        </p:spPr>
        <p:txBody>
          <a:bodyPr wrap="square" rtlCol="0" anchor="t"/>
          <a:lstStyle/>
          <a:p>
            <a:pPr marL="0" indent="0">
              <a:buNone/>
            </a:pPr>
            <a:r>
              <a:rPr lang="en-US" sz="1300" dirty="0">
                <a:solidFill>
                  <a:srgbClr val="1A2733"/>
                </a:solidFill>
                <a:latin typeface="Calibri" pitchFamily="34" charset="0"/>
                <a:ea typeface="Calibri" pitchFamily="34" charset="-122"/>
                <a:cs typeface="Calibri" pitchFamily="34" charset="-120"/>
              </a:rPr>
              <a:t>When multiple signals agree, the rule engine escalates the flag from “minor” to “urgent,” and the AI's tone shifts accordingly — from reassuring to direct. Instead of generic DIY tips, the response prioritizes fast action:</a:t>
            </a:r>
            <a:endParaRPr lang="en-US" sz="1300" dirty="0"/>
          </a:p>
        </p:txBody>
      </p:sp>
      <p:sp>
        <p:nvSpPr>
          <p:cNvPr id="12" name="Text 10"/>
          <p:cNvSpPr txBox="1"/>
          <p:nvPr/>
        </p:nvSpPr>
        <p:spPr>
          <a:xfrm>
            <a:off x="6446520" y="3383280"/>
            <a:ext cx="4846320" cy="2286000"/>
          </a:xfrm>
          <a:prstGeom prst="rect">
            <a:avLst/>
          </a:prstGeom>
          <a:noFill/>
          <a:ln/>
        </p:spPr>
        <p:txBody>
          <a:bodyPr wrap="square" rtlCol="0" anchor="t"/>
          <a:lstStyle/>
          <a:p>
            <a:pPr marL="342900" indent="-342900">
              <a:spcAft>
                <a:spcPts val="1000"/>
              </a:spcAft>
              <a:buSzPct val="100000"/>
              <a:buChar char="•"/>
            </a:pPr>
            <a:r>
              <a:rPr lang="en-US" sz="1250" dirty="0">
                <a:solidFill>
                  <a:srgbClr val="1A2733"/>
                </a:solidFill>
                <a:latin typeface="Calibri" pitchFamily="34" charset="0"/>
                <a:ea typeface="Calibri" pitchFamily="34" charset="-122"/>
                <a:cs typeface="Calibri" pitchFamily="34" charset="-120"/>
              </a:rPr>
              <a:t>Turn off the main stopcock and observe whether damp patches worsen</a:t>
            </a:r>
            <a:endParaRPr lang="en-US" sz="1250" dirty="0"/>
          </a:p>
          <a:p>
            <a:pPr marL="342900" indent="-342900">
              <a:spcAft>
                <a:spcPts val="1000"/>
              </a:spcAft>
              <a:buSzPct val="100000"/>
              <a:buChar char="•"/>
            </a:pPr>
            <a:r>
              <a:rPr lang="en-US" sz="1250" dirty="0">
                <a:solidFill>
                  <a:srgbClr val="1A2733"/>
                </a:solidFill>
                <a:latin typeface="Calibri" pitchFamily="34" charset="0"/>
                <a:ea typeface="Calibri" pitchFamily="34" charset="-122"/>
                <a:cs typeface="Calibri" pitchFamily="34" charset="-120"/>
              </a:rPr>
              <a:t>Contact a plumber within 1–2 days rather than waiting for the next bill cycle</a:t>
            </a:r>
            <a:endParaRPr lang="en-US" sz="1250" dirty="0"/>
          </a:p>
          <a:p>
            <a:pPr marL="342900" indent="-342900">
              <a:spcAft>
                <a:spcPts val="1000"/>
              </a:spcAft>
              <a:buSzPct val="100000"/>
              <a:buChar char="•"/>
            </a:pPr>
            <a:r>
              <a:rPr lang="en-US" sz="1250" dirty="0">
                <a:solidFill>
                  <a:srgbClr val="1A2733"/>
                </a:solidFill>
                <a:latin typeface="Calibri" pitchFamily="34" charset="0"/>
                <a:ea typeface="Calibri" pitchFamily="34" charset="-122"/>
                <a:cs typeface="Calibri" pitchFamily="34" charset="-120"/>
              </a:rPr>
              <a:t>Avoid using habit tips as a substitute for addressing the leak first</a:t>
            </a:r>
            <a:endParaRPr lang="en-US" sz="1250" dirty="0"/>
          </a:p>
        </p:txBody>
      </p:sp>
      <p:sp>
        <p:nvSpPr>
          <p:cNvPr id="13" name="Text 11"/>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14" name="Text 1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Tools &amp; Technologies Used</a:t>
            </a:r>
            <a:endParaRPr lang="en-US" sz="2800" dirty="0"/>
          </a:p>
        </p:txBody>
      </p:sp>
      <p:sp>
        <p:nvSpPr>
          <p:cNvPr id="3" name="Shape 1"/>
          <p:cNvSpPr/>
          <p:nvPr/>
        </p:nvSpPr>
        <p:spPr>
          <a:xfrm>
            <a:off x="548640" y="132588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4" name="Shape 2"/>
          <p:cNvSpPr/>
          <p:nvPr/>
        </p:nvSpPr>
        <p:spPr>
          <a:xfrm>
            <a:off x="822960" y="1600200"/>
            <a:ext cx="594360" cy="594360"/>
          </a:xfrm>
          <a:prstGeom prst="ellipse">
            <a:avLst/>
          </a:prstGeom>
          <a:solidFill>
            <a:srgbClr val="065A82"/>
          </a:solidFill>
          <a:ln/>
        </p:spPr>
      </p:sp>
      <p:pic>
        <p:nvPicPr>
          <p:cNvPr id="5" name="Image 0" descr="preencoded.png"/>
          <p:cNvPicPr>
            <a:picLocks noChangeAspect="1"/>
          </p:cNvPicPr>
          <p:nvPr/>
        </p:nvPicPr>
        <p:blipFill>
          <a:blip r:embed="rId3"/>
          <a:stretch>
            <a:fillRect/>
          </a:stretch>
        </p:blipFill>
        <p:spPr>
          <a:xfrm>
            <a:off x="977494" y="1754734"/>
            <a:ext cx="285293" cy="285293"/>
          </a:xfrm>
          <a:prstGeom prst="rect">
            <a:avLst/>
          </a:prstGeom>
        </p:spPr>
      </p:pic>
      <p:sp>
        <p:nvSpPr>
          <p:cNvPr id="6" name="Text 3"/>
          <p:cNvSpPr txBox="1"/>
          <p:nvPr/>
        </p:nvSpPr>
        <p:spPr>
          <a:xfrm>
            <a:off x="1600200" y="161848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IBM BOB</a:t>
            </a:r>
            <a:endParaRPr lang="en-US" sz="1550" dirty="0"/>
          </a:p>
        </p:txBody>
      </p:sp>
      <p:sp>
        <p:nvSpPr>
          <p:cNvPr id="7" name="Text 4"/>
          <p:cNvSpPr txBox="1"/>
          <p:nvPr/>
        </p:nvSpPr>
        <p:spPr>
          <a:xfrm>
            <a:off x="822960" y="228600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Ran the leak-detection and habit-advisory prompts to generate real AI explanations and tips.</a:t>
            </a:r>
            <a:endParaRPr lang="en-US" sz="1200" dirty="0"/>
          </a:p>
        </p:txBody>
      </p:sp>
      <p:sp>
        <p:nvSpPr>
          <p:cNvPr id="8" name="Shape 5"/>
          <p:cNvSpPr/>
          <p:nvPr/>
        </p:nvSpPr>
        <p:spPr>
          <a:xfrm>
            <a:off x="6217920" y="132588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9" name="Shape 6"/>
          <p:cNvSpPr/>
          <p:nvPr/>
        </p:nvSpPr>
        <p:spPr>
          <a:xfrm>
            <a:off x="6492240" y="1600200"/>
            <a:ext cx="594360" cy="594360"/>
          </a:xfrm>
          <a:prstGeom prst="ellipse">
            <a:avLst/>
          </a:prstGeom>
          <a:solidFill>
            <a:srgbClr val="065A82"/>
          </a:solidFill>
          <a:ln/>
        </p:spPr>
      </p:sp>
      <p:pic>
        <p:nvPicPr>
          <p:cNvPr id="10" name="Image 1" descr="preencoded.png"/>
          <p:cNvPicPr>
            <a:picLocks noChangeAspect="1"/>
          </p:cNvPicPr>
          <p:nvPr/>
        </p:nvPicPr>
        <p:blipFill>
          <a:blip r:embed="rId4"/>
          <a:stretch>
            <a:fillRect/>
          </a:stretch>
        </p:blipFill>
        <p:spPr>
          <a:xfrm>
            <a:off x="6646774" y="1754734"/>
            <a:ext cx="285293" cy="285293"/>
          </a:xfrm>
          <a:prstGeom prst="rect">
            <a:avLst/>
          </a:prstGeom>
        </p:spPr>
      </p:pic>
      <p:sp>
        <p:nvSpPr>
          <p:cNvPr id="11" name="Text 7"/>
          <p:cNvSpPr txBox="1"/>
          <p:nvPr/>
        </p:nvSpPr>
        <p:spPr>
          <a:xfrm>
            <a:off x="7269480" y="161848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Prompt Engineering</a:t>
            </a:r>
            <a:endParaRPr lang="en-US" sz="1550" dirty="0"/>
          </a:p>
        </p:txBody>
      </p:sp>
      <p:sp>
        <p:nvSpPr>
          <p:cNvPr id="12" name="Text 8"/>
          <p:cNvSpPr txBox="1"/>
          <p:nvPr/>
        </p:nvSpPr>
        <p:spPr>
          <a:xfrm>
            <a:off x="6492240" y="228600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Designed structured prompts that ask the AI to show its reasoning and flag assumptions.</a:t>
            </a:r>
            <a:endParaRPr lang="en-US" sz="1200" dirty="0"/>
          </a:p>
        </p:txBody>
      </p:sp>
      <p:sp>
        <p:nvSpPr>
          <p:cNvPr id="13" name="Shape 9"/>
          <p:cNvSpPr/>
          <p:nvPr/>
        </p:nvSpPr>
        <p:spPr>
          <a:xfrm>
            <a:off x="548640" y="365760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4" name="Shape 10"/>
          <p:cNvSpPr/>
          <p:nvPr/>
        </p:nvSpPr>
        <p:spPr>
          <a:xfrm>
            <a:off x="822960" y="3931920"/>
            <a:ext cx="594360" cy="594360"/>
          </a:xfrm>
          <a:prstGeom prst="ellipse">
            <a:avLst/>
          </a:prstGeom>
          <a:solidFill>
            <a:srgbClr val="065A82"/>
          </a:solidFill>
          <a:ln/>
        </p:spPr>
      </p:sp>
      <p:pic>
        <p:nvPicPr>
          <p:cNvPr id="15" name="Image 2" descr="preencoded.png"/>
          <p:cNvPicPr>
            <a:picLocks noChangeAspect="1"/>
          </p:cNvPicPr>
          <p:nvPr/>
        </p:nvPicPr>
        <p:blipFill>
          <a:blip r:embed="rId5"/>
          <a:stretch>
            <a:fillRect/>
          </a:stretch>
        </p:blipFill>
        <p:spPr>
          <a:xfrm>
            <a:off x="977494" y="4086454"/>
            <a:ext cx="285293" cy="285293"/>
          </a:xfrm>
          <a:prstGeom prst="rect">
            <a:avLst/>
          </a:prstGeom>
        </p:spPr>
      </p:pic>
      <p:sp>
        <p:nvSpPr>
          <p:cNvPr id="16" name="Text 11"/>
          <p:cNvSpPr txBox="1"/>
          <p:nvPr/>
        </p:nvSpPr>
        <p:spPr>
          <a:xfrm>
            <a:off x="1600200" y="395020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Rule-Based Logic</a:t>
            </a:r>
            <a:endParaRPr lang="en-US" sz="1550" dirty="0"/>
          </a:p>
        </p:txBody>
      </p:sp>
      <p:sp>
        <p:nvSpPr>
          <p:cNvPr id="17" name="Text 12"/>
          <p:cNvSpPr txBox="1"/>
          <p:nvPr/>
        </p:nvSpPr>
        <p:spPr>
          <a:xfrm>
            <a:off x="822960" y="461772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A simple scoring system (JavaScript) converts yes/no answers into a leak-likelihood flag.</a:t>
            </a:r>
            <a:endParaRPr lang="en-US" sz="1200" dirty="0"/>
          </a:p>
        </p:txBody>
      </p:sp>
      <p:sp>
        <p:nvSpPr>
          <p:cNvPr id="18" name="Shape 13"/>
          <p:cNvSpPr/>
          <p:nvPr/>
        </p:nvSpPr>
        <p:spPr>
          <a:xfrm>
            <a:off x="6217920" y="365760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9" name="Shape 14"/>
          <p:cNvSpPr/>
          <p:nvPr/>
        </p:nvSpPr>
        <p:spPr>
          <a:xfrm>
            <a:off x="6492240" y="3931920"/>
            <a:ext cx="594360" cy="594360"/>
          </a:xfrm>
          <a:prstGeom prst="ellipse">
            <a:avLst/>
          </a:prstGeom>
          <a:solidFill>
            <a:srgbClr val="065A82"/>
          </a:solidFill>
          <a:ln/>
        </p:spPr>
      </p:sp>
      <p:pic>
        <p:nvPicPr>
          <p:cNvPr id="20" name="Image 3" descr="preencoded.png"/>
          <p:cNvPicPr>
            <a:picLocks noChangeAspect="1"/>
          </p:cNvPicPr>
          <p:nvPr/>
        </p:nvPicPr>
        <p:blipFill>
          <a:blip r:embed="rId6"/>
          <a:stretch>
            <a:fillRect/>
          </a:stretch>
        </p:blipFill>
        <p:spPr>
          <a:xfrm>
            <a:off x="6646774" y="4086454"/>
            <a:ext cx="285293" cy="285293"/>
          </a:xfrm>
          <a:prstGeom prst="rect">
            <a:avLst/>
          </a:prstGeom>
        </p:spPr>
      </p:pic>
      <p:sp>
        <p:nvSpPr>
          <p:cNvPr id="21" name="Text 15"/>
          <p:cNvSpPr txBox="1"/>
          <p:nvPr/>
        </p:nvSpPr>
        <p:spPr>
          <a:xfrm>
            <a:off x="7269480" y="395020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HTML / JavaScript</a:t>
            </a:r>
            <a:endParaRPr lang="en-US" sz="1550" dirty="0"/>
          </a:p>
        </p:txBody>
      </p:sp>
      <p:sp>
        <p:nvSpPr>
          <p:cNvPr id="22" name="Text 16"/>
          <p:cNvSpPr txBox="1"/>
          <p:nvPr/>
        </p:nvSpPr>
        <p:spPr>
          <a:xfrm>
            <a:off x="6492240" y="461772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Built the working interactive prototype combining the rule engine with live AI calls.</a:t>
            </a:r>
            <a:endParaRPr lang="en-US" sz="1200" dirty="0"/>
          </a:p>
        </p:txBody>
      </p:sp>
      <p:sp>
        <p:nvSpPr>
          <p:cNvPr id="23" name="Text 1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4"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Future Scope &amp; Scalability</a:t>
            </a:r>
            <a:endParaRPr lang="en-US" sz="2800" dirty="0"/>
          </a:p>
        </p:txBody>
      </p:sp>
      <p:sp>
        <p:nvSpPr>
          <p:cNvPr id="3" name="Shape 1"/>
          <p:cNvSpPr/>
          <p:nvPr/>
        </p:nvSpPr>
        <p:spPr>
          <a:xfrm>
            <a:off x="548640" y="132588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4" name="Shape 2"/>
          <p:cNvSpPr/>
          <p:nvPr/>
        </p:nvSpPr>
        <p:spPr>
          <a:xfrm>
            <a:off x="822960" y="1600200"/>
            <a:ext cx="594360" cy="594360"/>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977494" y="1754734"/>
            <a:ext cx="285293" cy="285293"/>
          </a:xfrm>
          <a:prstGeom prst="rect">
            <a:avLst/>
          </a:prstGeom>
        </p:spPr>
      </p:pic>
      <p:sp>
        <p:nvSpPr>
          <p:cNvPr id="6" name="Text 3"/>
          <p:cNvSpPr txBox="1"/>
          <p:nvPr/>
        </p:nvSpPr>
        <p:spPr>
          <a:xfrm>
            <a:off x="1600200" y="161848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Smart Meter Integration</a:t>
            </a:r>
            <a:endParaRPr lang="en-US" sz="1550" dirty="0"/>
          </a:p>
        </p:txBody>
      </p:sp>
      <p:sp>
        <p:nvSpPr>
          <p:cNvPr id="7" name="Text 4"/>
          <p:cNvSpPr txBox="1"/>
          <p:nvPr/>
        </p:nvSpPr>
        <p:spPr>
          <a:xfrm>
            <a:off x="822960" y="228600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Connect to IoT water meters for real-time, automatic leak detection instead of self-reported answers.</a:t>
            </a:r>
            <a:endParaRPr lang="en-US" sz="1200" dirty="0"/>
          </a:p>
        </p:txBody>
      </p:sp>
      <p:sp>
        <p:nvSpPr>
          <p:cNvPr id="8" name="Shape 5"/>
          <p:cNvSpPr/>
          <p:nvPr/>
        </p:nvSpPr>
        <p:spPr>
          <a:xfrm>
            <a:off x="6217920" y="132588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9" name="Shape 6"/>
          <p:cNvSpPr/>
          <p:nvPr/>
        </p:nvSpPr>
        <p:spPr>
          <a:xfrm>
            <a:off x="6492240" y="1600200"/>
            <a:ext cx="594360" cy="594360"/>
          </a:xfrm>
          <a:prstGeom prst="ellipse">
            <a:avLst/>
          </a:prstGeom>
          <a:solidFill>
            <a:srgbClr val="1C7293"/>
          </a:solidFill>
          <a:ln/>
        </p:spPr>
      </p:sp>
      <p:pic>
        <p:nvPicPr>
          <p:cNvPr id="10" name="Image 1" descr="preencoded.png"/>
          <p:cNvPicPr>
            <a:picLocks noChangeAspect="1"/>
          </p:cNvPicPr>
          <p:nvPr/>
        </p:nvPicPr>
        <p:blipFill>
          <a:blip r:embed="rId4"/>
          <a:stretch>
            <a:fillRect/>
          </a:stretch>
        </p:blipFill>
        <p:spPr>
          <a:xfrm>
            <a:off x="6646774" y="1754734"/>
            <a:ext cx="285293" cy="285293"/>
          </a:xfrm>
          <a:prstGeom prst="rect">
            <a:avLst/>
          </a:prstGeom>
        </p:spPr>
      </p:pic>
      <p:sp>
        <p:nvSpPr>
          <p:cNvPr id="11" name="Text 7"/>
          <p:cNvSpPr txBox="1"/>
          <p:nvPr/>
        </p:nvSpPr>
        <p:spPr>
          <a:xfrm>
            <a:off x="7269480" y="161848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Regional Language Support</a:t>
            </a:r>
            <a:endParaRPr lang="en-US" sz="1550" dirty="0"/>
          </a:p>
        </p:txBody>
      </p:sp>
      <p:sp>
        <p:nvSpPr>
          <p:cNvPr id="12" name="Text 8"/>
          <p:cNvSpPr txBox="1"/>
          <p:nvPr/>
        </p:nvSpPr>
        <p:spPr>
          <a:xfrm>
            <a:off x="6492240" y="228600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Offer the advisor in local languages to reach a wider range of urban and semi-urban households.</a:t>
            </a:r>
            <a:endParaRPr lang="en-US" sz="1200" dirty="0"/>
          </a:p>
        </p:txBody>
      </p:sp>
      <p:sp>
        <p:nvSpPr>
          <p:cNvPr id="13" name="Shape 9"/>
          <p:cNvSpPr/>
          <p:nvPr/>
        </p:nvSpPr>
        <p:spPr>
          <a:xfrm>
            <a:off x="548640" y="365760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4" name="Shape 10"/>
          <p:cNvSpPr/>
          <p:nvPr/>
        </p:nvSpPr>
        <p:spPr>
          <a:xfrm>
            <a:off x="822960" y="3931920"/>
            <a:ext cx="594360" cy="594360"/>
          </a:xfrm>
          <a:prstGeom prst="ellipse">
            <a:avLst/>
          </a:prstGeom>
          <a:solidFill>
            <a:srgbClr val="1C7293"/>
          </a:solidFill>
          <a:ln/>
        </p:spPr>
      </p:sp>
      <p:pic>
        <p:nvPicPr>
          <p:cNvPr id="15" name="Image 2" descr="preencoded.png"/>
          <p:cNvPicPr>
            <a:picLocks noChangeAspect="1"/>
          </p:cNvPicPr>
          <p:nvPr/>
        </p:nvPicPr>
        <p:blipFill>
          <a:blip r:embed="rId5"/>
          <a:stretch>
            <a:fillRect/>
          </a:stretch>
        </p:blipFill>
        <p:spPr>
          <a:xfrm>
            <a:off x="977494" y="4086454"/>
            <a:ext cx="285293" cy="285293"/>
          </a:xfrm>
          <a:prstGeom prst="rect">
            <a:avLst/>
          </a:prstGeom>
        </p:spPr>
      </p:pic>
      <p:sp>
        <p:nvSpPr>
          <p:cNvPr id="16" name="Text 11"/>
          <p:cNvSpPr txBox="1"/>
          <p:nvPr/>
        </p:nvSpPr>
        <p:spPr>
          <a:xfrm>
            <a:off x="1600200" y="395020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Utility Dashboard</a:t>
            </a:r>
            <a:endParaRPr lang="en-US" sz="1550" dirty="0"/>
          </a:p>
        </p:txBody>
      </p:sp>
      <p:sp>
        <p:nvSpPr>
          <p:cNvPr id="17" name="Text 12"/>
          <p:cNvSpPr txBox="1"/>
          <p:nvPr/>
        </p:nvSpPr>
        <p:spPr>
          <a:xfrm>
            <a:off x="822960" y="461772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Aggregate anonymized household data to help municipal water utilities spot neighborhood-level waste patterns.</a:t>
            </a:r>
            <a:endParaRPr lang="en-US" sz="1200" dirty="0"/>
          </a:p>
        </p:txBody>
      </p:sp>
      <p:sp>
        <p:nvSpPr>
          <p:cNvPr id="18" name="Shape 13"/>
          <p:cNvSpPr/>
          <p:nvPr/>
        </p:nvSpPr>
        <p:spPr>
          <a:xfrm>
            <a:off x="6217920" y="3657600"/>
            <a:ext cx="5394960" cy="2103120"/>
          </a:xfrm>
          <a:prstGeom prst="roundRect">
            <a:avLst>
              <a:gd name="adj" fmla="val 4348"/>
            </a:avLst>
          </a:prstGeom>
          <a:solidFill>
            <a:srgbClr val="FFFFFF"/>
          </a:solidFill>
          <a:ln w="12700">
            <a:solidFill>
              <a:srgbClr val="DCE6EA"/>
            </a:solidFill>
            <a:prstDash val="solid"/>
          </a:ln>
          <a:effectLst>
            <a:outerShdw blurRad="63500" dist="25400" dir="5400000" algn="bl" rotWithShape="0">
              <a:srgbClr val="223344">
                <a:alpha val="10000"/>
              </a:srgbClr>
            </a:outerShdw>
          </a:effectLst>
        </p:spPr>
      </p:sp>
      <p:sp>
        <p:nvSpPr>
          <p:cNvPr id="19" name="Shape 14"/>
          <p:cNvSpPr/>
          <p:nvPr/>
        </p:nvSpPr>
        <p:spPr>
          <a:xfrm>
            <a:off x="6492240" y="3931920"/>
            <a:ext cx="594360" cy="594360"/>
          </a:xfrm>
          <a:prstGeom prst="ellipse">
            <a:avLst/>
          </a:prstGeom>
          <a:solidFill>
            <a:srgbClr val="1C7293"/>
          </a:solidFill>
          <a:ln/>
        </p:spPr>
      </p:sp>
      <p:pic>
        <p:nvPicPr>
          <p:cNvPr id="20" name="Image 3" descr="preencoded.png"/>
          <p:cNvPicPr>
            <a:picLocks noChangeAspect="1"/>
          </p:cNvPicPr>
          <p:nvPr/>
        </p:nvPicPr>
        <p:blipFill>
          <a:blip r:embed="rId6"/>
          <a:stretch>
            <a:fillRect/>
          </a:stretch>
        </p:blipFill>
        <p:spPr>
          <a:xfrm>
            <a:off x="6646774" y="4086454"/>
            <a:ext cx="285293" cy="285293"/>
          </a:xfrm>
          <a:prstGeom prst="rect">
            <a:avLst/>
          </a:prstGeom>
        </p:spPr>
      </p:pic>
      <p:sp>
        <p:nvSpPr>
          <p:cNvPr id="21" name="Text 15"/>
          <p:cNvSpPr txBox="1"/>
          <p:nvPr/>
        </p:nvSpPr>
        <p:spPr>
          <a:xfrm>
            <a:off x="7269480" y="3950208"/>
            <a:ext cx="411480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Community Rollout</a:t>
            </a:r>
            <a:endParaRPr lang="en-US" sz="1550" dirty="0"/>
          </a:p>
        </p:txBody>
      </p:sp>
      <p:sp>
        <p:nvSpPr>
          <p:cNvPr id="22" name="Text 16"/>
          <p:cNvSpPr txBox="1"/>
          <p:nvPr/>
        </p:nvSpPr>
        <p:spPr>
          <a:xfrm>
            <a:off x="6492240" y="4617720"/>
            <a:ext cx="4846320" cy="1005840"/>
          </a:xfrm>
          <a:prstGeom prst="rect">
            <a:avLst/>
          </a:prstGeom>
          <a:noFill/>
          <a:ln/>
        </p:spPr>
        <p:txBody>
          <a:bodyPr wrap="square" rtlCol="0" anchor="t"/>
          <a:lstStyle/>
          <a:p>
            <a:pPr marL="0" indent="0">
              <a:buNone/>
            </a:pPr>
            <a:r>
              <a:rPr lang="en-US" sz="1200" dirty="0">
                <a:solidFill>
                  <a:srgbClr val="1A2733"/>
                </a:solidFill>
                <a:latin typeface="Calibri" pitchFamily="34" charset="0"/>
                <a:ea typeface="Calibri" pitchFamily="34" charset="-122"/>
                <a:cs typeface="Calibri" pitchFamily="34" charset="-120"/>
              </a:rPr>
              <a:t>Pilot with a housing society or hostel to test real-world adoption and refine the advisor with real feedback.</a:t>
            </a:r>
            <a:endParaRPr lang="en-US" sz="1200" dirty="0"/>
          </a:p>
        </p:txBody>
      </p:sp>
      <p:sp>
        <p:nvSpPr>
          <p:cNvPr id="23" name="Text 1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24"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Key Learnings</a:t>
            </a:r>
            <a:endParaRPr lang="en-US" sz="2800" dirty="0"/>
          </a:p>
        </p:txBody>
      </p:sp>
      <p:sp>
        <p:nvSpPr>
          <p:cNvPr id="3" name="Shape 1"/>
          <p:cNvSpPr/>
          <p:nvPr/>
        </p:nvSpPr>
        <p:spPr>
          <a:xfrm>
            <a:off x="548640" y="1280160"/>
            <a:ext cx="11064240" cy="4572000"/>
          </a:xfrm>
          <a:prstGeom prst="roundRect">
            <a:avLst>
              <a:gd name="adj" fmla="val 2400"/>
            </a:avLst>
          </a:prstGeom>
          <a:solidFill>
            <a:srgbClr val="FFFFFF"/>
          </a:solidFill>
          <a:ln w="12700">
            <a:solidFill>
              <a:srgbClr val="DCE6EA"/>
            </a:solidFill>
            <a:prstDash val="solid"/>
          </a:ln>
        </p:spPr>
      </p:sp>
      <p:sp>
        <p:nvSpPr>
          <p:cNvPr id="4" name="Text 2"/>
          <p:cNvSpPr txBox="1"/>
          <p:nvPr/>
        </p:nvSpPr>
        <p:spPr>
          <a:xfrm>
            <a:off x="914400" y="1600200"/>
            <a:ext cx="10332720" cy="4023360"/>
          </a:xfrm>
          <a:prstGeom prst="rect">
            <a:avLst/>
          </a:prstGeom>
          <a:noFill/>
          <a:ln/>
        </p:spPr>
        <p:txBody>
          <a:bodyPr wrap="square" rtlCol="0" anchor="t"/>
          <a:lstStyle/>
          <a:p>
            <a:pPr marL="342900" indent="-342900">
              <a:spcAft>
                <a:spcPts val="1800"/>
              </a:spcAft>
              <a:buSzPct val="100000"/>
              <a:buChar char="•"/>
            </a:pPr>
            <a:r>
              <a:rPr lang="en-US" sz="1500" dirty="0">
                <a:solidFill>
                  <a:srgbClr val="1A2733"/>
                </a:solidFill>
                <a:latin typeface="Calibri" pitchFamily="34" charset="0"/>
                <a:ea typeface="Calibri" pitchFamily="34" charset="-122"/>
                <a:cs typeface="Calibri" pitchFamily="34" charset="-120"/>
              </a:rPr>
              <a:t>AI doesn't need to be complex to be useful — combining simple rules with a well-designed prompt created a genuinely helpful tool.</a:t>
            </a:r>
            <a:endParaRPr lang="en-US" sz="1500" dirty="0"/>
          </a:p>
          <a:p>
            <a:pPr marL="342900" indent="-342900">
              <a:spcAft>
                <a:spcPts val="1800"/>
              </a:spcAft>
              <a:buSzPct val="100000"/>
              <a:buChar char="•"/>
            </a:pPr>
            <a:r>
              <a:rPr lang="en-US" sz="1500" dirty="0">
                <a:solidFill>
                  <a:srgbClr val="1A2733"/>
                </a:solidFill>
                <a:latin typeface="Calibri" pitchFamily="34" charset="0"/>
                <a:ea typeface="Calibri" pitchFamily="34" charset="-122"/>
                <a:cs typeface="Calibri" pitchFamily="34" charset="-120"/>
              </a:rPr>
              <a:t>Transparency matters as much as accuracy: showing calculations and stating assumptions made the advisor's output trustworthy, not just impressive.</a:t>
            </a:r>
            <a:endParaRPr lang="en-US" sz="1500" dirty="0"/>
          </a:p>
          <a:p>
            <a:pPr marL="342900" indent="-342900">
              <a:spcAft>
                <a:spcPts val="1800"/>
              </a:spcAft>
              <a:buSzPct val="100000"/>
              <a:buChar char="•"/>
            </a:pPr>
            <a:r>
              <a:rPr lang="en-US" sz="1500" dirty="0">
                <a:solidFill>
                  <a:srgbClr val="1A2733"/>
                </a:solidFill>
                <a:latin typeface="Calibri" pitchFamily="34" charset="0"/>
                <a:ea typeface="Calibri" pitchFamily="34" charset="-122"/>
                <a:cs typeface="Calibri" pitchFamily="34" charset="-120"/>
              </a:rPr>
              <a:t>Designing for real households (not abstract users) forced concrete choices — like what counts as an 'urgent' leak — that a generic tool would skip.</a:t>
            </a:r>
            <a:endParaRPr lang="en-US" sz="1500" dirty="0"/>
          </a:p>
          <a:p>
            <a:pPr marL="342900" indent="-342900">
              <a:spcAft>
                <a:spcPts val="1800"/>
              </a:spcAft>
              <a:buSzPct val="100000"/>
              <a:buChar char="•"/>
            </a:pPr>
            <a:r>
              <a:rPr lang="en-US" sz="1500" dirty="0">
                <a:solidFill>
                  <a:srgbClr val="1A2733"/>
                </a:solidFill>
                <a:latin typeface="Calibri" pitchFamily="34" charset="0"/>
                <a:ea typeface="Calibri" pitchFamily="34" charset="-122"/>
                <a:cs typeface="Calibri" pitchFamily="34" charset="-120"/>
              </a:rPr>
              <a:t>Testing across multiple scenarios (efficient, wasteful, urgent) revealed edge cases that a single demo run would have missed.</a:t>
            </a:r>
            <a:endParaRPr lang="en-US" sz="15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5A6B76"/>
                </a:solidFill>
                <a:latin typeface="Calibri" pitchFamily="34" charset="0"/>
                <a:ea typeface="Calibri" pitchFamily="34" charset="-122"/>
                <a:cs typeface="Calibri" pitchFamily="34" charset="-120"/>
              </a:rPr>
              <a:t>Smart Water Usage Advisor  |  1M1B AI for Sustainability Internship</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4114800"/>
            <a:ext cx="4572000" cy="4572000"/>
          </a:xfrm>
          <a:prstGeom prst="ellipse">
            <a:avLst/>
          </a:prstGeom>
          <a:solidFill>
            <a:srgbClr val="065A82">
              <a:alpha val="45000"/>
            </a:srgbClr>
          </a:solidFill>
          <a:ln/>
        </p:spPr>
      </p:sp>
      <p:sp>
        <p:nvSpPr>
          <p:cNvPr id="3" name="Shape 1"/>
          <p:cNvSpPr/>
          <p:nvPr/>
        </p:nvSpPr>
        <p:spPr>
          <a:xfrm>
            <a:off x="822960" y="1005840"/>
            <a:ext cx="914400" cy="914400"/>
          </a:xfrm>
          <a:prstGeom prst="ellipse">
            <a:avLst/>
          </a:prstGeom>
          <a:solidFill>
            <a:srgbClr val="065A82"/>
          </a:solidFill>
          <a:ln/>
        </p:spPr>
      </p:sp>
      <p:pic>
        <p:nvPicPr>
          <p:cNvPr id="4" name="Image 0" descr="preencoded.png"/>
          <p:cNvPicPr>
            <a:picLocks noChangeAspect="1"/>
          </p:cNvPicPr>
          <p:nvPr/>
        </p:nvPicPr>
        <p:blipFill>
          <a:blip r:embed="rId3"/>
          <a:stretch>
            <a:fillRect/>
          </a:stretch>
        </p:blipFill>
        <p:spPr>
          <a:xfrm>
            <a:off x="1060704" y="1243584"/>
            <a:ext cx="438912" cy="438912"/>
          </a:xfrm>
          <a:prstGeom prst="rect">
            <a:avLst/>
          </a:prstGeom>
        </p:spPr>
      </p:pic>
      <p:sp>
        <p:nvSpPr>
          <p:cNvPr id="5" name="Text 2"/>
          <p:cNvSpPr txBox="1"/>
          <p:nvPr/>
        </p:nvSpPr>
        <p:spPr>
          <a:xfrm>
            <a:off x="822960" y="2286000"/>
            <a:ext cx="7315200" cy="82296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txBox="1"/>
          <p:nvPr/>
        </p:nvSpPr>
        <p:spPr>
          <a:xfrm>
            <a:off x="822960" y="3246120"/>
            <a:ext cx="8686800" cy="82296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Small, everyday water habits — and the leaks we never notice — add up. AI can turn invisible waste into a clear, personal, and actionable story for every household.</a:t>
            </a:r>
            <a:endParaRPr lang="en-US" sz="1500" dirty="0"/>
          </a:p>
        </p:txBody>
      </p:sp>
      <p:sp>
        <p:nvSpPr>
          <p:cNvPr id="7" name="Text 4"/>
          <p:cNvSpPr txBox="1"/>
          <p:nvPr/>
        </p:nvSpPr>
        <p:spPr>
          <a:xfrm>
            <a:off x="822960" y="5943600"/>
            <a:ext cx="7315200" cy="365760"/>
          </a:xfrm>
          <a:prstGeom prst="rect">
            <a:avLst/>
          </a:prstGeom>
          <a:noFill/>
          <a:ln/>
        </p:spPr>
        <p:txBody>
          <a:bodyPr wrap="square" rtlCol="0" anchor="ctr"/>
          <a:lstStyle/>
          <a:p>
            <a:r>
              <a:rPr lang="en-US" sz="1300" b="1" dirty="0">
                <a:solidFill>
                  <a:srgbClr val="FFFFFF"/>
                </a:solidFill>
                <a:latin typeface="Calibri" pitchFamily="34" charset="0"/>
                <a:ea typeface="Calibri" pitchFamily="34" charset="-122"/>
                <a:cs typeface="Calibri" pitchFamily="34" charset="-120"/>
              </a:rPr>
              <a:t>Nevil Usdad  |  </a:t>
            </a:r>
            <a:r>
              <a:rPr lang="en-US" sz="1300" b="1" dirty="0" err="1">
                <a:solidFill>
                  <a:srgbClr val="FFFFFF"/>
                </a:solidFill>
                <a:latin typeface="Calibri" pitchFamily="34" charset="0"/>
                <a:ea typeface="Calibri" pitchFamily="34" charset="-122"/>
                <a:cs typeface="Calibri" pitchFamily="34" charset="-120"/>
              </a:rPr>
              <a:t>Sutex</a:t>
            </a:r>
            <a:r>
              <a:rPr lang="en-US" sz="1300" b="1" dirty="0">
                <a:solidFill>
                  <a:srgbClr val="FFFFFF"/>
                </a:solidFill>
                <a:latin typeface="Calibri" pitchFamily="34" charset="0"/>
                <a:ea typeface="Calibri" pitchFamily="34" charset="-122"/>
                <a:cs typeface="Calibri" pitchFamily="34" charset="-120"/>
              </a:rPr>
              <a:t> Bank College Of Computer Applications &amp; Science </a:t>
            </a:r>
            <a:endParaRPr lang="en-US" sz="1300" dirty="0"/>
          </a:p>
        </p:txBody>
      </p:sp>
      <p:sp>
        <p:nvSpPr>
          <p:cNvPr id="8" name="Text 5"/>
          <p:cNvSpPr txBox="1"/>
          <p:nvPr/>
        </p:nvSpPr>
        <p:spPr>
          <a:xfrm>
            <a:off x="822960" y="6309360"/>
            <a:ext cx="7315200" cy="320040"/>
          </a:xfrm>
          <a:prstGeom prst="rect">
            <a:avLst/>
          </a:prstGeom>
          <a:noFill/>
          <a:ln/>
        </p:spPr>
        <p:txBody>
          <a:bodyPr wrap="square" rtlCol="0" anchor="ctr"/>
          <a:lstStyle/>
          <a:p>
            <a:pPr marL="0" indent="0">
              <a:buNone/>
            </a:pPr>
            <a:r>
              <a:rPr lang="en-US" sz="1100" dirty="0">
                <a:solidFill>
                  <a:srgbClr val="8FA9BC"/>
                </a:solidFill>
                <a:latin typeface="Calibri" pitchFamily="34" charset="0"/>
                <a:ea typeface="Calibri" pitchFamily="34" charset="-122"/>
                <a:cs typeface="Calibri" pitchFamily="34" charset="-120"/>
              </a:rPr>
              <a:t>1M1B AI for Sustainability Virtual Internship — IBM SkillsBuild &amp; AICTE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2095</Words>
  <Application>Microsoft Office PowerPoint</Application>
  <PresentationFormat>Widescreen</PresentationFormat>
  <Paragraphs>263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Nevil Usdad</cp:lastModifiedBy>
  <cp:revision>2</cp:revision>
  <dcterms:created xsi:type="dcterms:W3CDTF">2026-09-07T11:53:09Z</dcterms:created>
  <dcterms:modified xsi:type="dcterms:W3CDTF">2026-09-09T10:40:02Z</dcterms:modified>
</cp:coreProperties>
</file>